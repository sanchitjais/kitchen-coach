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2"/>
  </p:notesMasterIdLst>
  <p:sldIdLst>
    <p:sldId id="256" r:id="rId2"/>
    <p:sldId id="306" r:id="rId3"/>
    <p:sldId id="293" r:id="rId4"/>
    <p:sldId id="289" r:id="rId5"/>
    <p:sldId id="290" r:id="rId6"/>
    <p:sldId id="309" r:id="rId17"/>
    <p:sldId id="310" r:id="rId18"/>
    <p:sldId id="311" r:id="rId19"/>
    <p:sldId id="266" r:id="rId7"/>
    <p:sldId id="279" r:id="rId8"/>
    <p:sldId id="308" r:id="rId9"/>
    <p:sldId id="283" r:id="rId10"/>
    <p:sldId id="30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D5FC79"/>
    <a:srgbClr val="73FEFF"/>
    <a:srgbClr val="00F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44" autoAdjust="0"/>
    <p:restoredTop sz="94669"/>
  </p:normalViewPr>
  <p:slideViewPr>
    <p:cSldViewPr snapToGrid="0" snapToObjects="1" showGuides="1">
      <p:cViewPr varScale="1">
        <p:scale>
          <a:sx n="58" d="100"/>
          <a:sy n="58" d="100"/>
        </p:scale>
        <p:origin x="928" y="8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C3DA0E-D1FD-BC4E-848A-CADAF0C17C7F}" type="datetimeFigureOut">
              <a:rPr lang="en-US" smtClean="0"/>
              <a:t>8/7/2026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FDB9C3-3AFD-454D-9BAE-9D714207E35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4FDB9C3-3AFD-454D-9BAE-9D714207E35B}"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4FDB9C3-3AFD-454D-9BAE-9D714207E35B}" type="slidenum">
              <a:rPr lang="en-US" smtClean="0"/>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r>
              <a:rPr lang="en-US"/>
              <a:t>29 July 2026</a:t>
            </a:r>
          </a:p>
        </p:txBody>
      </p:sp>
      <p:sp>
        <p:nvSpPr>
          <p:cNvPr id="6" name="Footer Placeholder 5"/>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7" name="Slide Number Placeholder 6"/>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r>
              <a:rPr lang="en-US"/>
              <a:t>29 July 2026</a:t>
            </a:r>
          </a:p>
        </p:txBody>
      </p:sp>
      <p:sp>
        <p:nvSpPr>
          <p:cNvPr id="8" name="Footer Placeholder 7"/>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9" name="Slide Number Placeholder 8"/>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r>
              <a:rPr lang="en-US"/>
              <a:t>29 July 2026</a:t>
            </a:r>
          </a:p>
        </p:txBody>
      </p:sp>
      <p:sp>
        <p:nvSpPr>
          <p:cNvPr id="4" name="Footer Placeholder 3"/>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5" name="Slide Number Placeholder 4"/>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29 July 2026</a:t>
            </a:r>
          </a:p>
        </p:txBody>
      </p:sp>
      <p:sp>
        <p:nvSpPr>
          <p:cNvPr id="3" name="Footer Placeholder 2"/>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4" name="Slide Number Placeholder 3"/>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r>
              <a:rPr lang="en-US"/>
              <a:t>29 July 2026</a:t>
            </a:r>
          </a:p>
        </p:txBody>
      </p:sp>
      <p:sp>
        <p:nvSpPr>
          <p:cNvPr id="6" name="Footer Placeholder 5"/>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7" name="Slide Number Placeholder 6"/>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r>
              <a:rPr lang="en-US"/>
              <a:t>29 July 2026</a:t>
            </a:r>
          </a:p>
        </p:txBody>
      </p:sp>
      <p:sp>
        <p:nvSpPr>
          <p:cNvPr id="6" name="Footer Placeholder 5"/>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7" name="Slide Number Placeholder 6"/>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29 July 2026</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D3A235-9A1B-814A-A45F-231E0934496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p:cNvSpPr>
            <a:spLocks noGrp="1" noRot="1" noChangeAspect="1" noMove="1" noResize="1" noEditPoints="1" noAdjustHandles="1" noChangeArrowheads="1" noChangeShapeType="1" noTextEdit="1"/>
          </p:cNvSpPr>
          <p:nvPr/>
        </p:nvSpPr>
        <p:spPr bwMode="ltGray">
          <a:xfrm>
            <a:off x="336884" y="321177"/>
            <a:ext cx="4332307" cy="6179552"/>
          </a:xfrm>
          <a:prstGeom prst="rect">
            <a:avLst/>
          </a:prstGeom>
          <a:solidFill>
            <a:srgbClr val="404040">
              <a:alpha val="89804"/>
            </a:srgbClr>
          </a:solidFill>
          <a:ln w="127000" cap="sq" cmpd="thinThick">
            <a:solidFill>
              <a:srgbClr val="595959">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圖片 9" descr="Logo, company name&#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5438" y="461286"/>
            <a:ext cx="5748242" cy="2967714"/>
          </a:xfrm>
          <a:prstGeom prst="rect">
            <a:avLst/>
          </a:prstGeom>
        </p:spPr>
      </p:pic>
      <p:pic>
        <p:nvPicPr>
          <p:cNvPr id="5" name="Picture 4" descr="Text&#10;&#10;Description automatically generated with low confidence"/>
          <p:cNvPicPr>
            <a:picLocks noChangeAspect="1"/>
          </p:cNvPicPr>
          <p:nvPr/>
        </p:nvPicPr>
        <p:blipFill>
          <a:blip r:embed="rId4" cstate="print"/>
          <a:srcRect l="12259" t="15730" r="39436" b="26966"/>
          <a:stretch>
            <a:fillRect/>
          </a:stretch>
        </p:blipFill>
        <p:spPr>
          <a:xfrm>
            <a:off x="5785719" y="3239411"/>
            <a:ext cx="5127680" cy="2732348"/>
          </a:xfrm>
          <a:prstGeom prst="rect">
            <a:avLst/>
          </a:prstGeom>
        </p:spPr>
      </p:pic>
      <p:sp>
        <p:nvSpPr>
          <p:cNvPr id="2" name="Title 1"/>
          <p:cNvSpPr>
            <a:spLocks noGrp="1"/>
          </p:cNvSpPr>
          <p:nvPr>
            <p:ph type="ctrTitle"/>
          </p:nvPr>
        </p:nvSpPr>
        <p:spPr>
          <a:xfrm>
            <a:off x="336884" y="791807"/>
            <a:ext cx="4279196" cy="1752189"/>
          </a:xfrm>
        </p:spPr>
        <p:txBody>
          <a:bodyPr>
            <a:noAutofit/>
          </a:bodyPr>
          <a:lstStyle/>
          <a:p>
            <a:pPr algn="just">
              <a:spcBef>
                <a:spcPts val="1000"/>
              </a:spcBef>
            </a:pPr>
            <a:r>
              <a:rPr lang="en-GB" sz="2800" b="1" dirty="0" err="1">
                <a:solidFill>
                  <a:srgbClr val="FFFFFF"/>
                </a:solidFill>
                <a:latin typeface="Times New Roman" panose="02020603050405020304" pitchFamily="18" charset="0"/>
                <a:ea typeface="+mn-ea"/>
                <a:cs typeface="Times New Roman" panose="02020603050405020304" pitchFamily="18" charset="0"/>
              </a:rPr>
              <a:t>WEIGHT COACH APP</a:t>
            </a:r>
            <a:endParaRPr lang="en-GB" sz="2800" b="1" dirty="0">
              <a:solidFill>
                <a:srgbClr val="FFFFFF"/>
              </a:solidFill>
              <a:latin typeface="Times New Roman" panose="02020603050405020304" pitchFamily="18" charset="0"/>
              <a:ea typeface="+mn-ea"/>
              <a:cs typeface="Times New Roman" panose="02020603050405020304" pitchFamily="18" charset="0"/>
            </a:endParaRPr>
          </a:p>
          <a:p>
            <a:pPr algn="just"/>
            <a:r>
              <a:rPr sz="2000" b="0" i="0">
                <a:solidFill>
                  <a:srgbClr val="FFFFFF"/>
                </a:solidFill>
                <a:latin typeface="Times New Roman"/>
              </a:rPr>
              <a:t>Database Management System</a:t>
            </a:r>
          </a:p>
          <a:p>
            <a:pPr algn="just"/>
            <a:r>
              <a:rPr sz="2000" b="0" i="0">
                <a:solidFill>
                  <a:srgbClr val="FFFFFF"/>
                </a:solidFill>
                <a:latin typeface="Times New Roman"/>
              </a:rPr>
              <a:t>Database Management System</a:t>
            </a:r>
          </a:p>
        </p:txBody>
      </p:sp>
      <p:sp>
        <p:nvSpPr>
          <p:cNvPr id="3" name="Subtitle 2"/>
          <p:cNvSpPr>
            <a:spLocks noGrp="1"/>
          </p:cNvSpPr>
          <p:nvPr>
            <p:ph type="subTitle" idx="1"/>
          </p:nvPr>
        </p:nvSpPr>
        <p:spPr>
          <a:xfrm>
            <a:off x="255119" y="3014625"/>
            <a:ext cx="4332307" cy="2677964"/>
          </a:xfrm>
        </p:spPr>
        <p:txBody>
          <a:bodyPr>
            <a:noAutofit/>
          </a:bodyPr>
          <a:lstStyle/>
          <a:p>
            <a:r>
              <a:rPr lang="en-US" sz="2200" b="1" dirty="0" i="0">
                <a:solidFill>
                  <a:srgbClr val="FFFFFF"/>
                </a:solidFill>
                <a:latin typeface="Times New Roman" panose="02020603050405020304" pitchFamily="18" charset="0"/>
                <a:cs typeface="Times New Roman" panose="02020603050405020304" pitchFamily="18" charset="0"/>
              </a:rPr>
              <a:t>Sanchit Jaiswal</a:t>
            </a:r>
          </a:p>
          <a:p>
            <a:r>
              <a:rPr lang="en-US" sz="2200" dirty="0" b="0" i="0">
                <a:solidFill>
                  <a:srgbClr val="FFFFFF"/>
                </a:solidFill>
                <a:latin typeface="Times New Roman" panose="02020603050405020304" pitchFamily="18" charset="0"/>
                <a:cs typeface="Times New Roman" panose="02020603050405020304" pitchFamily="18" charset="0"/>
              </a:rPr>
              <a:t>(RA2411003011741)</a:t>
            </a:r>
            <a:r>
              <a:rPr lang="en-GB" sz="2200" dirty="0">
                <a:solidFill>
                  <a:srgbClr val="FFFFFF"/>
                </a:solidFill>
                <a:latin typeface="Times New Roman" panose="02020603050405020304" pitchFamily="18" charset="0"/>
                <a:cs typeface="Times New Roman" panose="02020603050405020304" pitchFamily="18" charset="0"/>
              </a:rPr>
              <a:t/>
            </a:r>
            <a:r>
              <a:rPr lang="en-US" sz="2200" dirty="0">
                <a:solidFill>
                  <a:srgbClr val="FFFFFF"/>
                </a:solidFill>
                <a:latin typeface="Times New Roman" panose="02020603050405020304" pitchFamily="18" charset="0"/>
                <a:cs typeface="Times New Roman" panose="02020603050405020304" pitchFamily="18" charset="0"/>
              </a:rPr>
              <a:t/>
            </a:r>
          </a:p>
          <a:p>
            <a:r>
              <a:rPr lang="en-US" sz="2200" b="1" dirty="0" i="0">
                <a:solidFill>
                  <a:srgbClr val="FFFFFF"/>
                </a:solidFill>
                <a:latin typeface="Times New Roman" panose="02020603050405020304" pitchFamily="18" charset="0"/>
                <a:cs typeface="Times New Roman" panose="02020603050405020304" pitchFamily="18" charset="0"/>
              </a:rPr>
              <a:t>Riya Raj</a:t>
            </a:r>
          </a:p>
          <a:p>
            <a:r>
              <a:rPr lang="en-US" sz="2200" dirty="0" b="0" i="0">
                <a:solidFill>
                  <a:srgbClr val="FFFFFF"/>
                </a:solidFill>
                <a:latin typeface="Times New Roman" panose="02020603050405020304" pitchFamily="18" charset="0"/>
                <a:cs typeface="Times New Roman" panose="02020603050405020304" pitchFamily="18" charset="0"/>
              </a:rPr>
              <a:t>(RA2411003011753)</a:t>
            </a:r>
            <a:r>
              <a:rPr lang="en-US" sz="2200" dirty="0" err="1">
                <a:solidFill>
                  <a:srgbClr val="FFFFFF"/>
                </a:solidFill>
                <a:latin typeface="Times New Roman" panose="02020603050405020304" pitchFamily="18" charset="0"/>
                <a:cs typeface="Times New Roman" panose="02020603050405020304" pitchFamily="18" charset="0"/>
              </a:rPr>
              <a:t/>
            </a:r>
            <a:r>
              <a:rPr lang="en-US" sz="2200" dirty="0">
                <a:solidFill>
                  <a:srgbClr val="FFFFFF"/>
                </a:solidFill>
                <a:latin typeface="Times New Roman" panose="02020603050405020304" pitchFamily="18" charset="0"/>
                <a:cs typeface="Times New Roman" panose="02020603050405020304" pitchFamily="18" charset="0"/>
              </a:rPr>
              <a:t/>
            </a:r>
          </a:p>
          <a:p>
            <a:r>
              <a:rPr lang="en-US" sz="2200" dirty="0" b="0" i="0">
                <a:solidFill>
                  <a:srgbClr val="FFFFFF"/>
                </a:solidFill>
                <a:latin typeface="Times New Roman" panose="02020603050405020304" pitchFamily="18" charset="0"/>
                <a:cs typeface="Times New Roman" panose="02020603050405020304" pitchFamily="18" charset="0"/>
              </a:rPr>
              <a:t>Department: CTECH</a:t>
            </a:r>
          </a:p>
          <a:p>
            <a:r>
              <a:rPr sz="2200" b="0" i="0">
                <a:solidFill>
                  <a:srgbClr val="FFFFFF"/>
                </a:solidFill>
                <a:latin typeface="Times New Roman"/>
              </a:rPr>
              <a:t/>
            </a:r>
            <a:endParaRPr lang="en-US" sz="2000" dirty="0">
              <a:solidFill>
                <a:srgbClr val="FFFFFF"/>
              </a:solidFill>
              <a:latin typeface="Times New Roman" panose="02020603050405020304" pitchFamily="18" charset="0"/>
              <a:cs typeface="Times New Roman" panose="02020603050405020304" pitchFamily="18" charset="0"/>
            </a:endParaRPr>
          </a:p>
          <a:p>
            <a:r>
              <a:rPr lang="en-US" sz="2000" dirty="0" b="0" i="0">
                <a:solidFill>
                  <a:srgbClr val="FFFFFF"/>
                </a:solidFill>
                <a:latin typeface="Times New Roman" panose="02020603050405020304" pitchFamily="18" charset="0"/>
                <a:cs typeface="Times New Roman" panose="02020603050405020304" pitchFamily="18" charset="0"/>
              </a:rPr>
              <a:t>29 JULY 2026</a:t>
            </a:r>
            <a:endParaRPr lang="en-US" sz="20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524" y="136525"/>
            <a:ext cx="10515600" cy="644735"/>
          </a:xfrm>
        </p:spPr>
        <p:txBody>
          <a:bodyPr>
            <a:noAutofit/>
          </a:bodyPr>
          <a:lstStyle/>
          <a:p>
            <a:pPr algn="ctr"/>
            <a:r>
              <a:rPr lang="en-US" sz="4000" b="1" dirty="0">
                <a:latin typeface="Times New Roman" panose="02020603050405020304" pitchFamily="18" charset="0"/>
                <a:cs typeface="Times New Roman" panose="02020603050405020304" pitchFamily="18" charset="0"/>
              </a:rPr>
              <a:t>Abstract</a:t>
            </a:r>
            <a:r>
              <a:rPr lang="en-US" sz="4000" b="1" dirty="0"/>
              <a:t> </a:t>
            </a:r>
            <a:endParaRPr lang="en-IN" sz="4000" b="1" dirty="0"/>
          </a:p>
        </p:txBody>
      </p:sp>
      <p:sp>
        <p:nvSpPr>
          <p:cNvPr id="10" name="Content Placeholder 2"/>
          <p:cNvSpPr>
            <a:spLocks noGrp="1"/>
          </p:cNvSpPr>
          <p:nvPr>
            <p:ph idx="1"/>
          </p:nvPr>
        </p:nvSpPr>
        <p:spPr>
          <a:xfrm>
            <a:off x="261257" y="1032086"/>
            <a:ext cx="11658600" cy="5575089"/>
          </a:xfrm>
        </p:spPr>
        <p:txBody>
          <a:bodyPr wrap="square">
            <a:normAutofit/>
          </a:bodyPr>
          <a:lstStyle/>
          <a:p>
            <a:pPr algn="just">
              <a:spcBef>
                <a:spcPts val="0"/>
              </a:spcBef>
              <a:spcAft>
                <a:spcPts val="600"/>
              </a:spcAft>
            </a:pPr>
            <a:r>
              <a:rPr sz="1800" b="0" i="0">
                <a:latin typeface="Times New Roman"/>
              </a:rPr>
              <a:t>The Weight Coach App is a comprehensive database-driven application designed to help users manage their kitchen inventory, discover recipes based on available ingredients, track daily meal consumption, and monitor nutritional intake — all while reducing food waste. The system is built on a robust MySQL 8.0 relational database that demonstrates advanced SQL concepts covered in the 21CSC205P Database Management Systems course.</a:t>
            </a:r>
          </a:p>
          <a:p>
            <a:pPr algn="just">
              <a:spcBef>
                <a:spcPts val="600"/>
              </a:spcBef>
              <a:spcAft>
                <a:spcPts val="600"/>
              </a:spcAft>
            </a:pPr>
            <a:r>
              <a:rPr sz="1800" b="0" i="0">
                <a:latin typeface="Times New Roman"/>
              </a:rPr>
              <a:t>The database schema comprises five interconnected tables — users, ingredients, recipes, recipe_ingredients (junction table for M:N relationships), and meal_logs — enforcing referential integrity through primary keys, foreign keys, UNIQUE constraints, CHECK constraints, and cascading deletes. The project demonstrates DDL operations, DML, aggregate functions (COUNT, SUM, AVG, MIN, MAX) with GROUP BY and HAVING clauses, set operations (UNION, INTERSECT, EXCEPT equivalents), subqueries, and multiple JOIN types.</a:t>
            </a:r>
          </a:p>
          <a:p>
            <a:pPr algn="just">
              <a:spcBef>
                <a:spcPts val="600"/>
              </a:spcBef>
              <a:spcAft>
                <a:spcPts val="600"/>
              </a:spcAft>
            </a:pPr>
            <a:r>
              <a:rPr sz="1800" b="0" i="0">
                <a:latin typeface="Times New Roman"/>
              </a:rPr>
              <a:t>Additionally, the project implements Views for reusable query encapsulation, Triggers for automated business logic enforcement, Cursors for row-by-row processing, Transactions with SAVEPOINTs for ACID-compliant operations, and Concurrency Control using row-level and table-level locks. A full-stack web application (React + Express.js + Supabase) provides the user-facing interface.</a:t>
            </a:r>
          </a:p>
        </p:txBody>
      </p:sp>
      <p:sp>
        <p:nvSpPr>
          <p:cNvPr id="5" name="Slide Number Placeholder 4"/>
          <p:cNvSpPr>
            <a:spLocks noGrp="1"/>
          </p:cNvSpPr>
          <p:nvPr>
            <p:ph type="sldNum" sz="quarter" idx="12"/>
          </p:nvPr>
        </p:nvSpPr>
        <p:spPr/>
        <p:txBody>
          <a:bodyPr/>
          <a:lstStyle/>
          <a:p>
            <a:fld id="{B6D3A235-9A1B-814A-A45F-231E09344964}" type="slidenum">
              <a:rPr lang="en-US" smtClean="0"/>
              <a:t>2</a:t>
            </a:fld>
            <a:endParaRPr lang="en-US"/>
          </a:p>
        </p:txBody>
      </p:sp>
      <p:sp>
        <p:nvSpPr>
          <p:cNvPr id="7" name="Date Placeholder 6"/>
          <p:cNvSpPr>
            <a:spLocks noGrp="1"/>
          </p:cNvSpPr>
          <p:nvPr>
            <p:ph type="dt" sz="half" idx="10"/>
          </p:nvPr>
        </p:nvSpPr>
        <p:spPr/>
        <p:txBody>
          <a:bodyPr/>
          <a:lstStyle/>
          <a:p>
            <a:r>
              <a:rPr lang="en-US"/>
              <a:t>29 July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0370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Introduction</a:t>
            </a:r>
            <a:r>
              <a:rPr lang="en-US" dirty="0"/>
              <a:t> </a:t>
            </a:r>
            <a:endParaRPr lang="en-IN" dirty="0"/>
          </a:p>
        </p:txBody>
      </p:sp>
      <p:sp>
        <p:nvSpPr>
          <p:cNvPr id="3" name="Content Placeholder 2"/>
          <p:cNvSpPr>
            <a:spLocks noGrp="1"/>
          </p:cNvSpPr>
          <p:nvPr>
            <p:ph idx="1"/>
          </p:nvPr>
        </p:nvSpPr>
        <p:spPr>
          <a:xfrm>
            <a:off x="217715" y="828169"/>
            <a:ext cx="11713028" cy="5710743"/>
          </a:xfrm>
        </p:spPr>
        <p:txBody>
          <a:bodyPr wrap="square">
            <a:noAutofit/>
          </a:bodyPr>
          <a:lstStyle/>
          <a:p>
            <a:pPr algn="just">
              <a:spcBef>
                <a:spcPts val="0"/>
              </a:spcBef>
              <a:spcAft>
                <a:spcPts val="600"/>
              </a:spcAft>
            </a:pPr>
            <a:r>
              <a:rPr sz="1700" b="0" i="0">
                <a:latin typeface="Times New Roman"/>
              </a:rPr>
              <a:t>In today's health-conscious world, managing nutrition effectively requires tracking what food is available, what meals are being consumed, and what nutritional value they provide. The Weight Coach App addresses this need by providing a unified platform for ingredient inventory management, recipe discovery, meal logging, and nutritional tracking.</a:t>
            </a:r>
          </a:p>
          <a:p>
            <a:pPr algn="just">
              <a:spcBef>
                <a:spcPts val="800"/>
              </a:spcBef>
              <a:spcAft>
                <a:spcPts val="600"/>
              </a:spcAft>
            </a:pPr>
            <a:r>
              <a:rPr sz="1700" b="1" i="0">
                <a:latin typeface="Times New Roman"/>
              </a:rPr>
              <a:t>Problem Statement:</a:t>
            </a:r>
          </a:p>
          <a:p>
            <a:pPr algn="l">
              <a:spcBef>
                <a:spcPts val="200"/>
              </a:spcBef>
              <a:spcAft>
                <a:spcPts val="400"/>
              </a:spcAft>
            </a:pPr>
            <a:r>
              <a:rPr sz="1600" b="0" i="0">
                <a:latin typeface="Times New Roman"/>
              </a:rPr>
              <a:t>• Users often waste food because they lose track of ingredient expiry dates</a:t>
            </a:r>
          </a:p>
          <a:p>
            <a:pPr algn="l">
              <a:spcBef>
                <a:spcPts val="200"/>
              </a:spcBef>
              <a:spcAft>
                <a:spcPts val="400"/>
              </a:spcAft>
            </a:pPr>
            <a:r>
              <a:rPr sz="1600" b="0" i="0">
                <a:latin typeface="Times New Roman"/>
              </a:rPr>
              <a:t>• Finding recipes that match available ingredients is time-consuming</a:t>
            </a:r>
          </a:p>
          <a:p>
            <a:pPr algn="l">
              <a:spcBef>
                <a:spcPts val="200"/>
              </a:spcBef>
              <a:spcAft>
                <a:spcPts val="400"/>
              </a:spcAft>
            </a:pPr>
            <a:r>
              <a:rPr sz="1600" b="0" i="0">
                <a:latin typeface="Times New Roman"/>
              </a:rPr>
              <a:t>• Manual meal tracking is tedious and inconsistent</a:t>
            </a:r>
          </a:p>
          <a:p>
            <a:pPr algn="l">
              <a:spcBef>
                <a:spcPts val="200"/>
              </a:spcBef>
              <a:spcAft>
                <a:spcPts val="400"/>
              </a:spcAft>
            </a:pPr>
            <a:r>
              <a:rPr sz="1600" b="0" i="0">
                <a:latin typeface="Times New Roman"/>
              </a:rPr>
              <a:t>• Nutritional monitoring requires cross-referencing multiple sources</a:t>
            </a:r>
          </a:p>
          <a:p>
            <a:pPr algn="just">
              <a:spcBef>
                <a:spcPts val="800"/>
              </a:spcBef>
              <a:spcAft>
                <a:spcPts val="600"/>
              </a:spcAft>
            </a:pPr>
            <a:r>
              <a:rPr sz="1700" b="1" i="0">
                <a:latin typeface="Times New Roman"/>
              </a:rPr>
              <a:t>Objectives:</a:t>
            </a:r>
          </a:p>
          <a:p>
            <a:pPr algn="l">
              <a:spcBef>
                <a:spcPts val="200"/>
              </a:spcBef>
              <a:spcAft>
                <a:spcPts val="400"/>
              </a:spcAft>
            </a:pPr>
            <a:r>
              <a:rPr sz="1600" b="0" i="0">
                <a:latin typeface="Times New Roman"/>
              </a:rPr>
              <a:t>• Design a normalized relational database schema with proper constraints</a:t>
            </a:r>
          </a:p>
          <a:p>
            <a:pPr algn="l">
              <a:spcBef>
                <a:spcPts val="200"/>
              </a:spcBef>
              <a:spcAft>
                <a:spcPts val="400"/>
              </a:spcAft>
            </a:pPr>
            <a:r>
              <a:rPr sz="1600" b="0" i="0">
                <a:latin typeface="Times New Roman"/>
              </a:rPr>
              <a:t>• Implement smart recipe recommendations based on available inventory</a:t>
            </a:r>
          </a:p>
          <a:p>
            <a:pPr algn="l">
              <a:spcBef>
                <a:spcPts val="200"/>
              </a:spcBef>
              <a:spcAft>
                <a:spcPts val="400"/>
              </a:spcAft>
            </a:pPr>
            <a:r>
              <a:rPr sz="1600" b="0" i="0">
                <a:latin typeface="Times New Roman"/>
              </a:rPr>
              <a:t>• Automate inventory management using triggers and transactions</a:t>
            </a:r>
          </a:p>
          <a:p>
            <a:pPr algn="l">
              <a:spcBef>
                <a:spcPts val="200"/>
              </a:spcBef>
              <a:spcAft>
                <a:spcPts val="400"/>
              </a:spcAft>
            </a:pPr>
            <a:r>
              <a:rPr sz="1600" b="0" i="0">
                <a:latin typeface="Times New Roman"/>
              </a:rPr>
              <a:t>• Demonstrate advanced SQL: Views, Cursors, Transactions, Concurrency</a:t>
            </a:r>
          </a:p>
          <a:p>
            <a:pPr algn="l">
              <a:spcBef>
                <a:spcPts val="200"/>
              </a:spcBef>
              <a:spcAft>
                <a:spcPts val="400"/>
              </a:spcAft>
            </a:pPr>
            <a:r>
              <a:rPr sz="1600" b="0" i="0">
                <a:latin typeface="Times New Roman"/>
              </a:rPr>
              <a:t>• Build a full-stack web app with React frontend and Express.js backend</a:t>
            </a:r>
          </a:p>
          <a:p>
            <a:pPr algn="just">
              <a:spcBef>
                <a:spcPts val="800"/>
              </a:spcBef>
              <a:spcAft>
                <a:spcPts val="600"/>
              </a:spcAft>
            </a:pPr>
            <a:r>
              <a:rPr sz="1700" b="1" i="0">
                <a:latin typeface="Times New Roman"/>
              </a:rPr>
              <a:t>Technology Stack:</a:t>
            </a:r>
          </a:p>
          <a:p>
            <a:pPr algn="l">
              <a:spcBef>
                <a:spcPts val="200"/>
              </a:spcBef>
              <a:spcAft>
                <a:spcPts val="400"/>
              </a:spcAft>
            </a:pPr>
            <a:r>
              <a:rPr sz="1600" b="0" i="0">
                <a:latin typeface="Times New Roman"/>
              </a:rPr>
              <a:t>• Database: MySQL 8.0  |  Backend: Node.js + Express.js  |  Frontend: React + TypeScript + Vite</a:t>
            </a:r>
          </a:p>
          <a:p>
            <a:pPr algn="l">
              <a:spcBef>
                <a:spcPts val="200"/>
              </a:spcBef>
              <a:spcAft>
                <a:spcPts val="400"/>
              </a:spcAft>
            </a:pPr>
            <a:r>
              <a:rPr sz="1600" b="0" i="0">
                <a:latin typeface="Times New Roman"/>
              </a:rPr>
              <a:t>• Cloud DB: Supabase (PostgreSQL)  |  Styling: Tailwind CSS + shadcn/ui</a:t>
            </a:r>
          </a:p>
        </p:txBody>
      </p:sp>
      <p:sp>
        <p:nvSpPr>
          <p:cNvPr id="7" name="Slide Number Placeholder 6"/>
          <p:cNvSpPr>
            <a:spLocks noGrp="1"/>
          </p:cNvSpPr>
          <p:nvPr>
            <p:ph type="sldNum" sz="quarter" idx="12"/>
          </p:nvPr>
        </p:nvSpPr>
        <p:spPr/>
        <p:txBody>
          <a:bodyPr/>
          <a:lstStyle/>
          <a:p>
            <a:fld id="{B6D3A235-9A1B-814A-A45F-231E09344964}" type="slidenum">
              <a:rPr lang="en-US" smtClean="0"/>
              <a:t>3</a:t>
            </a:fld>
            <a:endParaRPr lang="en-US"/>
          </a:p>
        </p:txBody>
      </p:sp>
      <p:sp>
        <p:nvSpPr>
          <p:cNvPr id="8" name="Date Placeholder 7"/>
          <p:cNvSpPr>
            <a:spLocks noGrp="1"/>
          </p:cNvSpPr>
          <p:nvPr>
            <p:ph type="dt" sz="half" idx="10"/>
          </p:nvPr>
        </p:nvSpPr>
        <p:spPr/>
        <p:txBody>
          <a:bodyPr/>
          <a:lstStyle/>
          <a:p>
            <a:r>
              <a:rPr lang="en-US"/>
              <a:t>29 July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1543611625"/>
              </p:ext>
            </p:extLst>
          </p:nvPr>
        </p:nvGraphicFramePr>
        <p:xfrm>
          <a:off x="314354" y="1495405"/>
          <a:ext cx="11559939" cy="5157510"/>
        </p:xfrm>
        <a:graphic>
          <a:graphicData uri="http://schemas.openxmlformats.org/drawingml/2006/table">
            <a:tbl>
              <a:tblPr firstRow="1" bandRow="1">
                <a:tableStyleId>{5C22544A-7EE6-4342-B048-85BDC9FD1C3A}</a:tableStyleId>
              </a:tblPr>
              <a:tblGrid>
                <a:gridCol w="600046">
                  <a:extLst>
                    <a:ext uri="{9D8B030D-6E8A-4147-A177-3AD203B41FA5}">
                      <a16:colId xmlns:a16="http://schemas.microsoft.com/office/drawing/2014/main" val="20000"/>
                    </a:ext>
                  </a:extLst>
                </a:gridCol>
                <a:gridCol w="1739153">
                  <a:extLst>
                    <a:ext uri="{9D8B030D-6E8A-4147-A177-3AD203B41FA5}">
                      <a16:colId xmlns:a16="http://schemas.microsoft.com/office/drawing/2014/main" val="20001"/>
                    </a:ext>
                  </a:extLst>
                </a:gridCol>
                <a:gridCol w="2070847">
                  <a:extLst>
                    <a:ext uri="{9D8B030D-6E8A-4147-A177-3AD203B41FA5}">
                      <a16:colId xmlns:a16="http://schemas.microsoft.com/office/drawing/2014/main" val="20002"/>
                    </a:ext>
                  </a:extLst>
                </a:gridCol>
                <a:gridCol w="2572871">
                  <a:extLst>
                    <a:ext uri="{9D8B030D-6E8A-4147-A177-3AD203B41FA5}">
                      <a16:colId xmlns:a16="http://schemas.microsoft.com/office/drawing/2014/main" val="20003"/>
                    </a:ext>
                  </a:extLst>
                </a:gridCol>
                <a:gridCol w="2232211">
                  <a:extLst>
                    <a:ext uri="{9D8B030D-6E8A-4147-A177-3AD203B41FA5}">
                      <a16:colId xmlns:a16="http://schemas.microsoft.com/office/drawing/2014/main" val="20004"/>
                    </a:ext>
                  </a:extLst>
                </a:gridCol>
                <a:gridCol w="2344811">
                  <a:extLst>
                    <a:ext uri="{9D8B030D-6E8A-4147-A177-3AD203B41FA5}">
                      <a16:colId xmlns:a16="http://schemas.microsoft.com/office/drawing/2014/main" val="20005"/>
                    </a:ext>
                  </a:extLst>
                </a:gridCol>
              </a:tblGrid>
              <a:tr h="0">
                <a:tc>
                  <a:txBody>
                    <a:bodyPr/>
                    <a:lstStyle/>
                    <a:p>
                      <a:pPr algn="ctr"/>
                      <a:r>
                        <a:rPr lang="en-IN" sz="2200" dirty="0" err="1">
                          <a:latin typeface="Times New Roman" panose="02020603050405020304" pitchFamily="18" charset="0"/>
                          <a:cs typeface="Times New Roman" panose="02020603050405020304" pitchFamily="18" charset="0"/>
                        </a:rPr>
                        <a:t>S.No</a:t>
                      </a:r>
                      <a:r>
                        <a:rPr lang="en-IN" sz="220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Author’s name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Title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Methods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Merits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Demerits</a:t>
                      </a:r>
                      <a:r>
                        <a:rPr lang="en-IN" sz="2200" baseline="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2105901">
                <a:tc>
                  <a:txBody>
                    <a:bodyPr wrap="square"/>
                    <a:lstStyle/>
                    <a:p>
                      <a:pPr algn="l"/>
                      <a:r>
                        <a:rPr lang="en-IN" sz="1000" dirty="0" b="1" i="0">
                          <a:latin typeface="Times New Roman" panose="02020603050405020304" pitchFamily="18" charset="0"/>
                          <a:cs typeface="Times New Roman" panose="02020603050405020304" pitchFamily="18" charset="0"/>
                        </a:rPr>
                        <a:t>1.</a:t>
                      </a:r>
                      <a:endParaRPr lang="en-US" sz="1800" dirty="0">
                        <a:latin typeface="Times New Roman" panose="02020603050405020304" pitchFamily="18" charset="0"/>
                        <a:cs typeface="Times New Roman" panose="02020603050405020304" pitchFamily="18" charset="0"/>
                      </a:endParaRPr>
                    </a:p>
                  </a:txBody>
                  <a:tcPr anchor="ctr"/>
                </a:tc>
                <a:tc>
                  <a:txBody>
                    <a:bodyPr wrap="square"/>
                    <a:lstStyle/>
                    <a:p>
                      <a:pPr algn="l"/>
                      <a:r>
                        <a:rPr sz="1000" b="0" i="0">
                          <a:latin typeface="Times New Roman"/>
                        </a:rPr>
                        <a:t>Shajith S. &amp; Vanita Jaitly (2025)</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buNone/>
                      </a:pPr>
                      <a:r>
                        <a:rPr sz="900" b="0" i="0">
                          <a:latin typeface="Times New Roman"/>
                        </a:rPr>
                        <a:t>Building an AI Powered Nutrition Tracking System</a:t>
                      </a:r>
                      <a:endParaRPr lang="en-IN" sz="1800" b="0"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CNN-based food recognition; BMI evaluation with curated food-calorie dataset; AI recommendation system</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buNone/>
                      </a:pPr>
                      <a:r>
                        <a:rPr sz="900" b="0" i="0">
                          <a:latin typeface="Times New Roman"/>
                        </a:rPr>
                        <a:t>Personalized meal suggestions; integrates BMI with nutritional analysis; automates calorie counting</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Relies heavily on image quality; no inventory management; no multi-user support</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2289609">
                <a:tc>
                  <a:txBody>
                    <a:bodyPr wrap="square"/>
                    <a:lstStyle/>
                    <a:p>
                      <a:pPr algn="l"/>
                      <a:r>
                        <a:rPr lang="en-US" sz="1000" dirty="0" b="1" i="0">
                          <a:latin typeface="Times New Roman" panose="02020603050405020304" pitchFamily="18" charset="0"/>
                          <a:cs typeface="Times New Roman" panose="02020603050405020304" pitchFamily="18" charset="0"/>
                        </a:rPr>
                        <a:t>2.</a:t>
                      </a:r>
                    </a:p>
                  </a:txBody>
                  <a:tcPr anchor="ctr"/>
                </a:tc>
                <a:tc>
                  <a:txBody>
                    <a:bodyPr wrap="square"/>
                    <a:lstStyle/>
                    <a:p>
                      <a:pPr algn="l"/>
                      <a:r>
                        <a:rPr sz="1000" b="0" i="0">
                          <a:latin typeface="Times New Roman"/>
                        </a:rPr>
                        <a:t>T. Chueh, Z. Wang et al. (2024)</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marL="0" algn="l" defTabSz="914400" rtl="0" eaLnBrk="1" latinLnBrk="0" hangingPunct="1">
                        <a:buNone/>
                      </a:pPr>
                      <a:r>
                        <a:rPr sz="900" b="0" i="0">
                          <a:latin typeface="Times New Roman"/>
                        </a:rPr>
                        <a:t>Mobile-Based Nutrition Tracker App Enhanced Dietitian-Guided Diet-Induced Weight Loss</a:t>
                      </a:r>
                      <a:endParaRPr lang="en-IN" sz="1800" b="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wrap="square"/>
                    <a:lstStyle/>
                    <a:p>
                      <a:pPr algn="l"/>
                      <a:r>
                        <a:rPr sz="900" b="0" i="0">
                          <a:latin typeface="Times New Roman"/>
                        </a:rPr>
                        <a:t>8-week retrospective cohort; 10,297 participants; mobile app + dietitian coaching; 2:1:1 portion plate</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Large sample size; significant weight loss (-4.78%); dietitian integration improves outcomes</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Short study period (8 weeks); no ingredient-level tracking; lacks recipe recommendation</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bl>
          </a:graphicData>
        </a:graphic>
      </p:graphicFrame>
      <p:sp>
        <p:nvSpPr>
          <p:cNvPr id="3" name="Title 1"/>
          <p:cNvSpPr txBox="1"/>
          <p:nvPr/>
        </p:nvSpPr>
        <p:spPr>
          <a:xfrm>
            <a:off x="1971903" y="136524"/>
            <a:ext cx="8244840" cy="6967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cs typeface="Times New Roman" panose="02020603050405020304" pitchFamily="18" charset="0"/>
              </a:rPr>
              <a:t>Literature Review</a:t>
            </a:r>
          </a:p>
        </p:txBody>
      </p:sp>
      <p:sp>
        <p:nvSpPr>
          <p:cNvPr id="5" name="Slide Number Placeholder 4"/>
          <p:cNvSpPr>
            <a:spLocks noGrp="1"/>
          </p:cNvSpPr>
          <p:nvPr>
            <p:ph type="sldNum" sz="quarter" idx="12"/>
          </p:nvPr>
        </p:nvSpPr>
        <p:spPr/>
        <p:txBody>
          <a:bodyPr/>
          <a:lstStyle/>
          <a:p>
            <a:fld id="{B6D3A235-9A1B-814A-A45F-231E09344964}" type="slidenum">
              <a:rPr lang="en-US" smtClean="0"/>
              <a:t>4</a:t>
            </a:fld>
            <a:endParaRPr lang="en-US"/>
          </a:p>
        </p:txBody>
      </p:sp>
      <p:sp>
        <p:nvSpPr>
          <p:cNvPr id="8" name="Date Placeholder 7"/>
          <p:cNvSpPr>
            <a:spLocks noGrp="1"/>
          </p:cNvSpPr>
          <p:nvPr>
            <p:ph type="dt" sz="half" idx="10"/>
          </p:nvPr>
        </p:nvSpPr>
        <p:spPr/>
        <p:txBody>
          <a:bodyPr/>
          <a:lstStyle/>
          <a:p>
            <a:r>
              <a:rPr lang="en-US"/>
              <a:t>29 July 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9486"/>
            <a:ext cx="10515600" cy="61378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Review </a:t>
            </a:r>
            <a:endParaRPr lang="en-IN" b="1" dirty="0">
              <a:latin typeface="Times New Roman" panose="02020603050405020304" pitchFamily="18" charset="0"/>
              <a:cs typeface="Times New Roman" panose="02020603050405020304" pitchFamily="18"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88142413"/>
              </p:ext>
            </p:extLst>
          </p:nvPr>
        </p:nvGraphicFramePr>
        <p:xfrm>
          <a:off x="314354" y="984344"/>
          <a:ext cx="11559939" cy="5240933"/>
        </p:xfrm>
        <a:graphic>
          <a:graphicData uri="http://schemas.openxmlformats.org/drawingml/2006/table">
            <a:tbl>
              <a:tblPr firstRow="1" bandRow="1">
                <a:tableStyleId>{5C22544A-7EE6-4342-B048-85BDC9FD1C3A}</a:tableStyleId>
              </a:tblPr>
              <a:tblGrid>
                <a:gridCol w="591081">
                  <a:extLst>
                    <a:ext uri="{9D8B030D-6E8A-4147-A177-3AD203B41FA5}">
                      <a16:colId xmlns:a16="http://schemas.microsoft.com/office/drawing/2014/main" val="20000"/>
                    </a:ext>
                  </a:extLst>
                </a:gridCol>
                <a:gridCol w="1990165">
                  <a:extLst>
                    <a:ext uri="{9D8B030D-6E8A-4147-A177-3AD203B41FA5}">
                      <a16:colId xmlns:a16="http://schemas.microsoft.com/office/drawing/2014/main" val="20001"/>
                    </a:ext>
                  </a:extLst>
                </a:gridCol>
                <a:gridCol w="1910080">
                  <a:extLst>
                    <a:ext uri="{9D8B030D-6E8A-4147-A177-3AD203B41FA5}">
                      <a16:colId xmlns:a16="http://schemas.microsoft.com/office/drawing/2014/main" val="20002"/>
                    </a:ext>
                  </a:extLst>
                </a:gridCol>
                <a:gridCol w="2267473">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515140">
                  <a:extLst>
                    <a:ext uri="{9D8B030D-6E8A-4147-A177-3AD203B41FA5}">
                      <a16:colId xmlns:a16="http://schemas.microsoft.com/office/drawing/2014/main" val="20005"/>
                    </a:ext>
                  </a:extLst>
                </a:gridCol>
              </a:tblGrid>
              <a:tr h="763622">
                <a:tc>
                  <a:txBody>
                    <a:bodyPr/>
                    <a:lstStyle/>
                    <a:p>
                      <a:pPr algn="ctr"/>
                      <a:r>
                        <a:rPr lang="en-IN" sz="2200" dirty="0" err="1">
                          <a:latin typeface="Times New Roman" panose="02020603050405020304" pitchFamily="18" charset="0"/>
                          <a:cs typeface="Times New Roman" panose="02020603050405020304" pitchFamily="18" charset="0"/>
                        </a:rPr>
                        <a:t>S.No</a:t>
                      </a:r>
                      <a:r>
                        <a:rPr lang="en-IN" sz="220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Author’s name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Title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Methods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Merits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Demerits</a:t>
                      </a:r>
                      <a:r>
                        <a:rPr lang="en-IN" sz="2200" baseline="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2220424">
                <a:tc>
                  <a:txBody>
                    <a:bodyPr wrap="square"/>
                    <a:lstStyle/>
                    <a:p>
                      <a:pPr algn="l"/>
                      <a:r>
                        <a:rPr sz="1000" b="1" i="0">
                          <a:latin typeface="Times New Roman"/>
                        </a:rPr>
                        <a:t>3.</a:t>
                      </a:r>
                      <a:endParaRPr lang="en-US" sz="1800" dirty="0">
                        <a:latin typeface="Times New Roman" panose="02020603050405020304" pitchFamily="18" charset="0"/>
                        <a:cs typeface="Times New Roman" panose="02020603050405020304" pitchFamily="18" charset="0"/>
                      </a:endParaRPr>
                    </a:p>
                  </a:txBody>
                  <a:tcPr anchor="ctr"/>
                </a:tc>
                <a:tc>
                  <a:txBody>
                    <a:bodyPr wrap="square"/>
                    <a:lstStyle/>
                    <a:p>
                      <a:pPr algn="l">
                        <a:buNone/>
                      </a:pPr>
                      <a:r>
                        <a:rPr sz="1000" b="0" i="0">
                          <a:latin typeface="Times New Roman"/>
                        </a:rPr>
                        <a:t>A. Jaiswal, A. Solanki et al. (2025)</a:t>
                      </a:r>
                      <a:endParaRPr lang="en-GB" dirty="0">
                        <a:latin typeface="Times New Roman" panose="02020603050405020304" pitchFamily="18" charset="0"/>
                        <a:cs typeface="Times New Roman" panose="02020603050405020304" pitchFamily="18" charset="0"/>
                      </a:endParaRPr>
                    </a:p>
                  </a:txBody>
                  <a:tcPr anchor="ctr"/>
                </a:tc>
                <a:tc>
                  <a:txBody>
                    <a:bodyPr wrap="square"/>
                    <a:lstStyle/>
                    <a:p>
                      <a:pPr algn="l">
                        <a:buNone/>
                      </a:pPr>
                      <a:r>
                        <a:rPr sz="900" b="0" i="0">
                          <a:latin typeface="Times New Roman"/>
                        </a:rPr>
                        <a:t>Revolutionizing Diet and Fitness Tracking with AI: A User-Centric Approach</a:t>
                      </a:r>
                      <a:endParaRPr lang="en-GB"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Harris-Benedict formula for calorie estimation; KNN + content-based filtering; Flutter + Firebase</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Integrated diet + fitness tracking; personalized exercise plans; cross-platform mobile app</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No SQL-based data management; limited to single-user; no expiry tracking or inventory</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2256887">
                <a:tc>
                  <a:txBody>
                    <a:bodyPr wrap="square"/>
                    <a:lstStyle/>
                    <a:p>
                      <a:pPr algn="l"/>
                      <a:r>
                        <a:rPr sz="1000" b="1" i="0">
                          <a:latin typeface="Times New Roman"/>
                        </a:rPr>
                        <a:t>4.</a:t>
                      </a:r>
                      <a:endParaRPr lang="en-US" sz="1800" dirty="0">
                        <a:latin typeface="Times New Roman" panose="02020603050405020304" pitchFamily="18" charset="0"/>
                        <a:cs typeface="Times New Roman" panose="02020603050405020304" pitchFamily="18" charset="0"/>
                      </a:endParaRPr>
                    </a:p>
                  </a:txBody>
                  <a:tcPr anchor="ctr"/>
                </a:tc>
                <a:tc>
                  <a:txBody>
                    <a:bodyPr wrap="square"/>
                    <a:lstStyle/>
                    <a:p>
                      <a:pPr algn="l"/>
                      <a:r>
                        <a:rPr sz="1000" b="0" i="0">
                          <a:latin typeface="Times New Roman"/>
                        </a:rPr>
                        <a:t>F. Chen et al. (2018)</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buNone/>
                      </a:pPr>
                      <a:r>
                        <a:rPr sz="900" b="0" i="0">
                          <a:latin typeface="Times New Roman"/>
                        </a:rPr>
                        <a:t>Assessment of Accuracy of Nutrient Calculations of Five Popular Nutrition Tracking Apps</a:t>
                      </a:r>
                      <a:endParaRPr lang="en-IN" sz="1800" b="0"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Comparative analysis of 5 popular apps (MyFitnessPal, etc.); nutrient calculation accuracy assessment</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buNone/>
                      </a:pPr>
                      <a:r>
                        <a:rPr sz="900" b="0" i="0">
                          <a:latin typeface="Times New Roman"/>
                        </a:rPr>
                        <a:t>Identifies accuracy gaps in existing apps; evidence-based evaluation framework</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Only evaluates existing apps; no new system proposed; no database schema analysis</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bl>
          </a:graphicData>
        </a:graphic>
      </p:graphicFrame>
      <p:sp>
        <p:nvSpPr>
          <p:cNvPr id="5" name="Slide Number Placeholder 4"/>
          <p:cNvSpPr>
            <a:spLocks noGrp="1"/>
          </p:cNvSpPr>
          <p:nvPr>
            <p:ph type="sldNum" sz="quarter" idx="12"/>
          </p:nvPr>
        </p:nvSpPr>
        <p:spPr/>
        <p:txBody>
          <a:bodyPr/>
          <a:lstStyle/>
          <a:p>
            <a:fld id="{B6D3A235-9A1B-814A-A45F-231E09344964}" type="slidenum">
              <a:rPr lang="en-US" smtClean="0"/>
              <a:t>5</a:t>
            </a:fld>
            <a:endParaRPr lang="en-US"/>
          </a:p>
        </p:txBody>
      </p:sp>
      <p:sp>
        <p:nvSpPr>
          <p:cNvPr id="8" name="Date Placeholder 7"/>
          <p:cNvSpPr>
            <a:spLocks noGrp="1"/>
          </p:cNvSpPr>
          <p:nvPr>
            <p:ph type="dt" sz="half" idx="10"/>
          </p:nvPr>
        </p:nvSpPr>
        <p:spPr/>
        <p:txBody>
          <a:bodyPr/>
          <a:lstStyle/>
          <a:p>
            <a:r>
              <a:rPr lang="en-US"/>
              <a:t>29 July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39296" y="181765"/>
            <a:ext cx="9710056"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Work Flow of Proposed Model</a:t>
            </a:r>
            <a:endParaRPr lang="en-IN" sz="4000" b="1" dirty="0">
              <a:latin typeface="Times New Roman" panose="02020603050405020304" pitchFamily="18" charset="0"/>
              <a:cs typeface="Times New Roman" panose="02020603050405020304" pitchFamily="18" charset="0"/>
            </a:endParaRPr>
          </a:p>
        </p:txBody>
      </p:sp>
      <p:sp>
        <p:nvSpPr>
          <p:cNvPr id="2" name="AutoShape 2" descr="https://ietresearch.onlinelibrary.wiley.com/cms/asset/2940a7b6-e3db-4571-ac31-fa8b0ce109de/ise28821891-fig-0004-m.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3" name="AutoShape 4" descr="https://ietresearch.onlinelibrary.wiley.com/cms/asset/2940a7b6-e3db-4571-ac31-fa8b0ce109de/ise28821891-fig-0004-m.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7" name="AutoShape 6" descr="https://ietresearch.onlinelibrary.wiley.com/cms/asset/2940a7b6-e3db-4571-ac31-fa8b0ce109de/ise28821891-fig-0004-m.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8" name="Slide Number Placeholder 7"/>
          <p:cNvSpPr>
            <a:spLocks noGrp="1"/>
          </p:cNvSpPr>
          <p:nvPr>
            <p:ph type="sldNum" sz="quarter" idx="12"/>
          </p:nvPr>
        </p:nvSpPr>
        <p:spPr/>
        <p:txBody>
          <a:bodyPr/>
          <a:lstStyle/>
          <a:p>
            <a:fld id="{B6D3A235-9A1B-814A-A45F-231E09344964}" type="slidenum">
              <a:rPr lang="en-US" smtClean="0"/>
              <a:t>6</a:t>
            </a:fld>
            <a:endParaRPr lang="en-US"/>
          </a:p>
        </p:txBody>
      </p:sp>
      <p:sp>
        <p:nvSpPr>
          <p:cNvPr id="15" name="Date Placeholder 14"/>
          <p:cNvSpPr>
            <a:spLocks noGrp="1"/>
          </p:cNvSpPr>
          <p:nvPr>
            <p:ph type="dt" sz="half" idx="10"/>
          </p:nvPr>
        </p:nvSpPr>
        <p:spPr/>
        <p:txBody>
          <a:bodyPr/>
          <a:lstStyle/>
          <a:p>
            <a:r>
              <a:rPr lang="en-US"/>
              <a:t>29 July 2026</a:t>
            </a:r>
          </a:p>
        </p:txBody>
      </p:sp>
      <p:sp>
        <p:nvSpPr>
          <p:cNvPr id="6" name="Content Placeholder 5">
            <a:extLst>
              <a:ext uri="{FF2B5EF4-FFF2-40B4-BE49-F238E27FC236}">
                <a16:creationId xmlns:a16="http://schemas.microsoft.com/office/drawing/2014/main" id="{58A201CE-CDB9-324E-2DD4-A609CF3BA911}"/>
              </a:ext>
            </a:extLst>
          </p:cNvPr>
          <p:cNvSpPr>
            <a:spLocks noGrp="1"/>
          </p:cNvSpPr>
          <p:nvPr>
            <p:ph idx="1"/>
          </p:nvPr>
        </p:nvSpPr>
        <p:spPr/>
        <p:txBody>
          <a:bodyPr wrap="square"/>
          <a:lstStyle/>
          <a:p>
            <a:pPr algn="ctr">
              <a:spcBef>
                <a:spcPts val="0"/>
              </a:spcBef>
              <a:spcAft>
                <a:spcPts val="1200"/>
              </a:spcAft>
            </a:pPr>
            <a:r>
              <a:rPr sz="2000" b="1" i="0">
                <a:latin typeface="Times New Roman"/>
              </a:rPr>
              <a:t>System Architecture &amp; Workflow</a:t>
            </a:r>
          </a:p>
          <a:p>
            <a:pPr algn="just">
              <a:spcBef>
                <a:spcPts val="0"/>
              </a:spcBef>
              <a:spcAft>
                <a:spcPts val="200"/>
              </a:spcAft>
            </a:pPr>
            <a:r>
              <a:rPr sz="1200" b="0" i="0">
                <a:latin typeface="Times New Roman"/>
              </a:rPr>
              <a:t/>
            </a:r>
          </a:p>
          <a:p>
            <a:pPr algn="l">
              <a:spcBef>
                <a:spcPts val="200"/>
              </a:spcBef>
              <a:spcAft>
                <a:spcPts val="400"/>
              </a:spcAft>
            </a:pPr>
            <a:r>
              <a:rPr sz="1500" b="0" i="0">
                <a:latin typeface="Times New Roman"/>
              </a:rPr>
              <a:t>1. USER REGISTRATION — Users sign up with email, password, and dietary preferences (JSON)</a:t>
            </a:r>
          </a:p>
          <a:p>
            <a:pPr algn="l">
              <a:spcBef>
                <a:spcPts val="200"/>
              </a:spcBef>
              <a:spcAft>
                <a:spcPts val="400"/>
              </a:spcAft>
            </a:pPr>
            <a:r>
              <a:rPr sz="1300" b="0" i="0">
                <a:latin typeface="Times New Roman"/>
              </a:rPr>
              <a:t>     ↓  Stored in 'users' table with UNIQUE email constraint</a:t>
            </a:r>
          </a:p>
          <a:p>
            <a:pPr algn="l">
              <a:spcBef>
                <a:spcPts val="200"/>
              </a:spcBef>
              <a:spcAft>
                <a:spcPts val="400"/>
              </a:spcAft>
            </a:pPr>
            <a:r>
              <a:rPr sz="1500" b="0" i="0">
                <a:latin typeface="Times New Roman"/>
              </a:rPr>
              <a:t>2. INGREDIENT MANAGEMENT — Users add ingredients with quantity, unit, expiry date, location</a:t>
            </a:r>
          </a:p>
          <a:p>
            <a:pPr algn="l">
              <a:spcBef>
                <a:spcPts val="200"/>
              </a:spcBef>
              <a:spcAft>
                <a:spcPts val="400"/>
              </a:spcAft>
            </a:pPr>
            <a:r>
              <a:rPr sz="1300" b="0" i="0">
                <a:latin typeface="Times New Roman"/>
              </a:rPr>
              <a:t>     ↓  Trigger blocks expired ingredients | View tracks expiring items</a:t>
            </a:r>
          </a:p>
          <a:p>
            <a:pPr algn="l">
              <a:spcBef>
                <a:spcPts val="200"/>
              </a:spcBef>
              <a:spcAft>
                <a:spcPts val="400"/>
              </a:spcAft>
            </a:pPr>
            <a:r>
              <a:rPr sz="1500" b="0" i="0">
                <a:latin typeface="Times New Roman"/>
              </a:rPr>
              <a:t>3. RECIPE MATCHING — System matches available ingredients to recipes via JOIN queries</a:t>
            </a:r>
          </a:p>
          <a:p>
            <a:pPr algn="l">
              <a:spcBef>
                <a:spcPts val="200"/>
              </a:spcBef>
              <a:spcAft>
                <a:spcPts val="400"/>
              </a:spcAft>
            </a:pPr>
            <a:r>
              <a:rPr sz="1300" b="0" i="0">
                <a:latin typeface="Times New Roman"/>
              </a:rPr>
              <a:t>     ↓  Junction table (recipe_ingredients) enables M:N mapping</a:t>
            </a:r>
          </a:p>
          <a:p>
            <a:pPr algn="l">
              <a:spcBef>
                <a:spcPts val="200"/>
              </a:spcBef>
              <a:spcAft>
                <a:spcPts val="400"/>
              </a:spcAft>
            </a:pPr>
            <a:r>
              <a:rPr sz="1500" b="0" i="0">
                <a:latin typeface="Times New Roman"/>
              </a:rPr>
              <a:t>4. MEAL LOGGING — Users log meals with date and rating (1-5, CHECK constraint)</a:t>
            </a:r>
          </a:p>
          <a:p>
            <a:pPr algn="l">
              <a:spcBef>
                <a:spcPts val="200"/>
              </a:spcBef>
              <a:spcAft>
                <a:spcPts val="400"/>
              </a:spcAft>
            </a:pPr>
            <a:r>
              <a:rPr sz="1300" b="0" i="0">
                <a:latin typeface="Times New Roman"/>
              </a:rPr>
              <a:t>     ↓  Trigger auto-deducts inventory | Default rating trigger sets 3 if NULL</a:t>
            </a:r>
          </a:p>
          <a:p>
            <a:pPr algn="l">
              <a:spcBef>
                <a:spcPts val="200"/>
              </a:spcBef>
              <a:spcAft>
                <a:spcPts val="400"/>
              </a:spcAft>
            </a:pPr>
            <a:r>
              <a:rPr sz="1500" b="0" i="0">
                <a:latin typeface="Times New Roman"/>
              </a:rPr>
              <a:t>5. ANALYTICS &amp; REPORTING — Views provide dashboards: nutrition, meal counts, leaderboards</a:t>
            </a:r>
          </a:p>
          <a:p>
            <a:pPr algn="l">
              <a:spcBef>
                <a:spcPts val="200"/>
              </a:spcBef>
              <a:spcAft>
                <a:spcPts val="400"/>
              </a:spcAft>
            </a:pPr>
            <a:r>
              <a:rPr sz="1300" b="0" i="0">
                <a:latin typeface="Times New Roman"/>
              </a:rPr>
              <a:t>     ↓  Aggregate functions (AVG, COUNT, SUM) power real-time insights</a:t>
            </a:r>
          </a:p>
          <a:p>
            <a:pPr algn="l">
              <a:spcBef>
                <a:spcPts val="200"/>
              </a:spcBef>
              <a:spcAft>
                <a:spcPts val="400"/>
              </a:spcAft>
            </a:pPr>
            <a:r>
              <a:rPr sz="1500" b="0" i="0">
                <a:latin typeface="Times New Roman"/>
              </a:rPr>
              <a:t>6. CONCURRENCY CONTROL — Row-level &amp; table-level locks ensure data consistency</a:t>
            </a:r>
          </a:p>
          <a:p>
            <a:pPr algn="l">
              <a:spcBef>
                <a:spcPts val="200"/>
              </a:spcBef>
              <a:spcAft>
                <a:spcPts val="400"/>
              </a:spcAft>
            </a:pPr>
            <a:r>
              <a:rPr sz="1300" b="0" i="0">
                <a:latin typeface="Times New Roman"/>
              </a:rPr>
              <a:t>     ↓  SELECT ... FOR UPDATE prevents race conditions on shared ingredients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8883" y="47040"/>
            <a:ext cx="10515600" cy="607384"/>
          </a:xfrm>
        </p:spPr>
        <p:txBody>
          <a:bodyPr>
            <a:normAutofit fontScale="90000"/>
          </a:bodyPr>
          <a:lstStyle/>
          <a:p>
            <a:pPr algn="ctr"/>
            <a:r>
              <a:rPr lang="en-IN" sz="4000" b="1" dirty="0">
                <a:latin typeface="Times New Roman" panose="02020603050405020304" pitchFamily="18" charset="0"/>
                <a:cs typeface="Times New Roman" panose="02020603050405020304" pitchFamily="18" charset="0"/>
              </a:rPr>
              <a:t>Proposed work -Explanation </a:t>
            </a:r>
          </a:p>
        </p:txBody>
      </p:sp>
      <p:sp>
        <p:nvSpPr>
          <p:cNvPr id="3" name="Content Placeholder 2"/>
          <p:cNvSpPr>
            <a:spLocks noGrp="1"/>
          </p:cNvSpPr>
          <p:nvPr>
            <p:ph idx="1"/>
          </p:nvPr>
        </p:nvSpPr>
        <p:spPr>
          <a:xfrm>
            <a:off x="629695" y="654424"/>
            <a:ext cx="10929257" cy="6067051"/>
          </a:xfrm>
        </p:spPr>
        <p:txBody>
          <a:bodyPr wrap="square">
            <a:noAutofit/>
          </a:bodyPr>
          <a:lstStyle/>
          <a:p>
            <a:pPr algn="just">
              <a:spcBef>
                <a:spcPts val="0"/>
              </a:spcBef>
              <a:spcAft>
                <a:spcPts val="600"/>
              </a:spcAft>
            </a:pPr>
            <a:r>
              <a:rPr sz="1800" b="1" i="0">
                <a:latin typeface="Times New Roman"/>
              </a:rPr>
              <a:t>Database Schema (5 Tables, 12+ Constraints)</a:t>
            </a:r>
          </a:p>
          <a:p>
            <a:pPr algn="l">
              <a:spcBef>
                <a:spcPts val="200"/>
              </a:spcBef>
              <a:spcAft>
                <a:spcPts val="400"/>
              </a:spcAft>
            </a:pPr>
            <a:r>
              <a:rPr sz="1400" b="0" i="0">
                <a:latin typeface="Times New Roman"/>
              </a:rPr>
              <a:t>• users — user_id (PK), email (UNIQUE NOT NULL), password_hash, name, dietary_preferences (JSON), created_at</a:t>
            </a:r>
          </a:p>
          <a:p>
            <a:pPr algn="l">
              <a:spcBef>
                <a:spcPts val="200"/>
              </a:spcBef>
              <a:spcAft>
                <a:spcPts val="400"/>
              </a:spcAft>
            </a:pPr>
            <a:r>
              <a:rPr sz="1400" b="0" i="0">
                <a:latin typeface="Times New Roman"/>
              </a:rPr>
              <a:t>• ingredients — ingredient_id (PK), user_id (FK CASCADE), name, quantity, unit, expiration_date, location, calories_per_unit</a:t>
            </a:r>
          </a:p>
          <a:p>
            <a:pPr algn="l">
              <a:spcBef>
                <a:spcPts val="200"/>
              </a:spcBef>
              <a:spcAft>
                <a:spcPts val="400"/>
              </a:spcAft>
            </a:pPr>
            <a:r>
              <a:rPr sz="1400" b="0" i="0">
                <a:latin typeface="Times New Roman"/>
              </a:rPr>
              <a:t>• recipes — recipe_id (PK), name, instructions (TEXT), prep_time, nutritional_info (JSON), difficulty_level</a:t>
            </a:r>
          </a:p>
          <a:p>
            <a:pPr algn="l">
              <a:spcBef>
                <a:spcPts val="200"/>
              </a:spcBef>
              <a:spcAft>
                <a:spcPts val="400"/>
              </a:spcAft>
            </a:pPr>
            <a:r>
              <a:rPr sz="1400" b="0" i="0">
                <a:latin typeface="Times New Roman"/>
              </a:rPr>
              <a:t>• recipe_ingredients — Composite PK (recipe_id, ingredient_name), FK CASCADE</a:t>
            </a:r>
          </a:p>
          <a:p>
            <a:pPr algn="l">
              <a:spcBef>
                <a:spcPts val="200"/>
              </a:spcBef>
              <a:spcAft>
                <a:spcPts val="400"/>
              </a:spcAft>
            </a:pPr>
            <a:r>
              <a:rPr sz="1400" b="0" i="0">
                <a:latin typeface="Times New Roman"/>
              </a:rPr>
              <a:t>• meal_logs — log_id (PK), user_id (FK), recipe_id (FK SET NULL), consumed_date, rating (CHECK 1-5)</a:t>
            </a:r>
          </a:p>
          <a:p>
            <a:pPr algn="just">
              <a:spcBef>
                <a:spcPts val="1000"/>
              </a:spcBef>
              <a:spcAft>
                <a:spcPts val="600"/>
              </a:spcAft>
            </a:pPr>
            <a:r>
              <a:rPr sz="1800" b="1" i="0">
                <a:latin typeface="Times New Roman"/>
              </a:rPr>
              <a:t>Advanced SQL Features Implemented</a:t>
            </a:r>
          </a:p>
          <a:p>
            <a:pPr algn="l">
              <a:spcBef>
                <a:spcPts val="200"/>
              </a:spcBef>
              <a:spcAft>
                <a:spcPts val="400"/>
              </a:spcAft>
            </a:pPr>
            <a:r>
              <a:rPr sz="1400" b="0" i="0">
                <a:latin typeface="Times New Roman"/>
              </a:rPr>
              <a:t>• Constraints: PRIMARY KEY, FOREIGN KEY (CASCADE, SET NULL), UNIQUE, NOT NULL, CHECK</a:t>
            </a:r>
          </a:p>
          <a:p>
            <a:pPr algn="l">
              <a:spcBef>
                <a:spcPts val="200"/>
              </a:spcBef>
              <a:spcAft>
                <a:spcPts val="400"/>
              </a:spcAft>
            </a:pPr>
            <a:r>
              <a:rPr sz="1400" b="0" i="0">
                <a:latin typeface="Times New Roman"/>
              </a:rPr>
              <a:t>• Aggregates: COUNT, SUM, AVG, MIN, MAX with GROUP BY and HAVING (7 queries)</a:t>
            </a:r>
          </a:p>
          <a:p>
            <a:pPr algn="l">
              <a:spcBef>
                <a:spcPts val="200"/>
              </a:spcBef>
              <a:spcAft>
                <a:spcPts val="400"/>
              </a:spcAft>
            </a:pPr>
            <a:r>
              <a:rPr sz="1400" b="0" i="0">
                <a:latin typeface="Times New Roman"/>
              </a:rPr>
              <a:t>• Set Operations: UNION, UNION ALL, INTERSECT (via JOIN), EXCEPT (via LEFT JOIN + IS NULL)</a:t>
            </a:r>
          </a:p>
          <a:p>
            <a:pPr algn="l">
              <a:spcBef>
                <a:spcPts val="200"/>
              </a:spcBef>
              <a:spcAft>
                <a:spcPts val="400"/>
              </a:spcAft>
            </a:pPr>
            <a:r>
              <a:rPr sz="1400" b="0" i="0">
                <a:latin typeface="Times New Roman"/>
              </a:rPr>
              <a:t>• Subqueries: Scalar, row, table subqueries — correlated and non-correlated (6 queries)</a:t>
            </a:r>
          </a:p>
          <a:p>
            <a:pPr algn="l">
              <a:spcBef>
                <a:spcPts val="200"/>
              </a:spcBef>
              <a:spcAft>
                <a:spcPts val="400"/>
              </a:spcAft>
            </a:pPr>
            <a:r>
              <a:rPr sz="1400" b="0" i="0">
                <a:latin typeface="Times New Roman"/>
              </a:rPr>
              <a:t>• Joins: INNER, LEFT, CROSS, SELF JOIN across 6 scenarios</a:t>
            </a:r>
          </a:p>
          <a:p>
            <a:pPr algn="l">
              <a:spcBef>
                <a:spcPts val="200"/>
              </a:spcBef>
              <a:spcAft>
                <a:spcPts val="400"/>
              </a:spcAft>
            </a:pPr>
            <a:r>
              <a:rPr sz="1400" b="0" i="0">
                <a:latin typeface="Times New Roman"/>
              </a:rPr>
              <a:t>• Views: 4 views — recipe_details, expiring_ingredients, user_meal_count, user_nutrition</a:t>
            </a:r>
          </a:p>
          <a:p>
            <a:pPr algn="l">
              <a:spcBef>
                <a:spcPts val="200"/>
              </a:spcBef>
              <a:spcAft>
                <a:spcPts val="400"/>
              </a:spcAft>
            </a:pPr>
            <a:r>
              <a:rPr sz="1400" b="0" i="0">
                <a:latin typeface="Times New Roman"/>
              </a:rPr>
              <a:t>• Triggers: 3 BEFORE/AFTER — default rating, inventory deduction, expiry validation</a:t>
            </a:r>
          </a:p>
          <a:p>
            <a:pPr algn="l">
              <a:spcBef>
                <a:spcPts val="200"/>
              </a:spcBef>
              <a:spcAft>
                <a:spcPts val="400"/>
              </a:spcAft>
            </a:pPr>
            <a:r>
              <a:rPr sz="1400" b="0" i="0">
                <a:latin typeface="Times New Roman"/>
              </a:rPr>
              <a:t>• Cursors: 3 stored procedures — get_ingredients, count_ingredients, low_stock</a:t>
            </a:r>
          </a:p>
          <a:p>
            <a:pPr algn="l">
              <a:spcBef>
                <a:spcPts val="200"/>
              </a:spcBef>
              <a:spcAft>
                <a:spcPts val="400"/>
              </a:spcAft>
            </a:pPr>
            <a:r>
              <a:rPr sz="1400" b="0" i="0">
                <a:latin typeface="Times New Roman"/>
              </a:rPr>
              <a:t>• Transactions: 5 blocks with SAVEPOINT, ROLLBACK, COMMIT (ACID properties)</a:t>
            </a:r>
          </a:p>
          <a:p>
            <a:pPr algn="l">
              <a:spcBef>
                <a:spcPts val="200"/>
              </a:spcBef>
              <a:spcAft>
                <a:spcPts val="400"/>
              </a:spcAft>
            </a:pPr>
            <a:r>
              <a:rPr sz="1400" b="0" i="0">
                <a:latin typeface="Times New Roman"/>
              </a:rPr>
              <a:t>• Concurrency: Row-level locks (SELECT ... FOR UPDATE) and table-level locks</a:t>
            </a:r>
          </a:p>
        </p:txBody>
      </p:sp>
      <p:sp>
        <p:nvSpPr>
          <p:cNvPr id="7" name="Slide Number Placeholder 6"/>
          <p:cNvSpPr>
            <a:spLocks noGrp="1"/>
          </p:cNvSpPr>
          <p:nvPr>
            <p:ph type="sldNum" sz="quarter" idx="12"/>
          </p:nvPr>
        </p:nvSpPr>
        <p:spPr/>
        <p:txBody>
          <a:bodyPr/>
          <a:lstStyle/>
          <a:p>
            <a:fld id="{B6D3A235-9A1B-814A-A45F-231E09344964}" type="slidenum">
              <a:rPr lang="en-US" smtClean="0"/>
              <a:t>7</a:t>
            </a:fld>
            <a:endParaRPr lang="en-US"/>
          </a:p>
        </p:txBody>
      </p:sp>
      <p:sp>
        <p:nvSpPr>
          <p:cNvPr id="8" name="Date Placeholder 7"/>
          <p:cNvSpPr>
            <a:spLocks noGrp="1"/>
          </p:cNvSpPr>
          <p:nvPr>
            <p:ph type="dt" sz="half" idx="10"/>
          </p:nvPr>
        </p:nvSpPr>
        <p:spPr/>
        <p:txBody>
          <a:bodyPr/>
          <a:lstStyle/>
          <a:p>
            <a:r>
              <a:rPr lang="en-US"/>
              <a:t>29 July 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4000" b="1" i="0">
                <a:latin typeface="Times New Roman"/>
              </a:rPr>
              <a:t>Results &amp; Full-Stack Implementation</a:t>
            </a:r>
          </a:p>
        </p:txBody>
      </p:sp>
      <p:sp>
        <p:nvSpPr>
          <p:cNvPr id="3" name="Content Placeholder 2"/>
          <p:cNvSpPr>
            <a:spLocks noGrp="1"/>
          </p:cNvSpPr>
          <p:nvPr>
            <p:ph idx="1"/>
          </p:nvPr>
        </p:nvSpPr>
        <p:spPr>
          <a:xfrm>
            <a:off x="838200" y="1825625"/>
            <a:ext cx="10663518" cy="4351338"/>
          </a:xfrm>
        </p:spPr>
        <p:txBody>
          <a:bodyPr wrap="square">
            <a:normAutofit/>
          </a:bodyPr>
          <a:lstStyle/>
          <a:p>
            <a:pPr algn="just">
              <a:spcBef>
                <a:spcPts val="0"/>
              </a:spcBef>
              <a:spcAft>
                <a:spcPts val="600"/>
              </a:spcAft>
            </a:pPr>
            <a:r>
              <a:rPr sz="1800" b="1" i="0">
                <a:latin typeface="Times New Roman"/>
              </a:rPr>
              <a:t>Dataset Overview</a:t>
            </a:r>
          </a:p>
          <a:p>
            <a:pPr algn="l">
              <a:spcBef>
                <a:spcPts val="200"/>
              </a:spcBef>
              <a:spcAft>
                <a:spcPts val="400"/>
              </a:spcAft>
            </a:pPr>
            <a:r>
              <a:rPr sz="1500" b="0" i="0">
                <a:latin typeface="Times New Roman"/>
              </a:rPr>
              <a:t>• 22 users with JSON dietary preferences (vegan, gluten-free, allergies)</a:t>
            </a:r>
          </a:p>
          <a:p>
            <a:pPr algn="l">
              <a:spcBef>
                <a:spcPts val="200"/>
              </a:spcBef>
              <a:spcAft>
                <a:spcPts val="400"/>
              </a:spcAft>
            </a:pPr>
            <a:r>
              <a:rPr sz="1500" b="0" i="0">
                <a:latin typeface="Times New Roman"/>
              </a:rPr>
              <a:t>• 30 ingredients across 3 storage locations (refrigerator, pantry, freezer)</a:t>
            </a:r>
          </a:p>
          <a:p>
            <a:pPr algn="l">
              <a:spcBef>
                <a:spcPts val="200"/>
              </a:spcBef>
              <a:spcAft>
                <a:spcPts val="400"/>
              </a:spcAft>
            </a:pPr>
            <a:r>
              <a:rPr sz="1500" b="0" i="0">
                <a:latin typeface="Times New Roman"/>
              </a:rPr>
              <a:t>• 22 recipes ranging from Easy to Hard difficulty (5–45 min prep time)</a:t>
            </a:r>
          </a:p>
          <a:p>
            <a:pPr algn="l">
              <a:spcBef>
                <a:spcPts val="200"/>
              </a:spcBef>
              <a:spcAft>
                <a:spcPts val="400"/>
              </a:spcAft>
            </a:pPr>
            <a:r>
              <a:rPr sz="1500" b="0" i="0">
                <a:latin typeface="Times New Roman"/>
              </a:rPr>
              <a:t>• 55 meal log entries with ratings from 1–5 across multiple users</a:t>
            </a:r>
          </a:p>
          <a:p>
            <a:pPr algn="just">
              <a:spcBef>
                <a:spcPts val="1000"/>
              </a:spcBef>
              <a:spcAft>
                <a:spcPts val="600"/>
              </a:spcAft>
            </a:pPr>
            <a:r>
              <a:rPr sz="1800" b="1" i="0">
                <a:latin typeface="Times New Roman"/>
              </a:rPr>
              <a:t>Full-Stack Web Application</a:t>
            </a:r>
          </a:p>
          <a:p>
            <a:pPr algn="l">
              <a:spcBef>
                <a:spcPts val="200"/>
              </a:spcBef>
              <a:spcAft>
                <a:spcPts val="400"/>
              </a:spcAft>
            </a:pPr>
            <a:r>
              <a:rPr sz="1500" b="0" i="0">
                <a:latin typeface="Times New Roman"/>
              </a:rPr>
              <a:t>• Frontend: React 18 + TypeScript + Vite — 8 pages (Dashboard, Ingredients, Recipes, Meal Logs, Shopping List, Auth)</a:t>
            </a:r>
          </a:p>
          <a:p>
            <a:pPr algn="l">
              <a:spcBef>
                <a:spcPts val="200"/>
              </a:spcBef>
              <a:spcAft>
                <a:spcPts val="400"/>
              </a:spcAft>
            </a:pPr>
            <a:r>
              <a:rPr sz="1500" b="0" i="0">
                <a:latin typeface="Times New Roman"/>
              </a:rPr>
              <a:t>• Backend: Node.js + Express.js — RESTful API with 6 route modules</a:t>
            </a:r>
          </a:p>
          <a:p>
            <a:pPr algn="l">
              <a:spcBef>
                <a:spcPts val="200"/>
              </a:spcBef>
              <a:spcAft>
                <a:spcPts val="400"/>
              </a:spcAft>
            </a:pPr>
            <a:r>
              <a:rPr sz="1500" b="0" i="0">
                <a:latin typeface="Times New Roman"/>
              </a:rPr>
              <a:t>• Database: Supabase (cloud PostgreSQL) + MySQL 8.0 (local dev)</a:t>
            </a:r>
          </a:p>
          <a:p>
            <a:pPr algn="l">
              <a:spcBef>
                <a:spcPts val="200"/>
              </a:spcBef>
              <a:spcAft>
                <a:spcPts val="400"/>
              </a:spcAft>
            </a:pPr>
            <a:r>
              <a:rPr sz="1500" b="0" i="0">
                <a:latin typeface="Times New Roman"/>
              </a:rPr>
              <a:t>• UI Components: shadcn/ui + Tailwind CSS + Framer Motion animations</a:t>
            </a:r>
          </a:p>
          <a:p>
            <a:pPr algn="just">
              <a:spcBef>
                <a:spcPts val="1000"/>
              </a:spcBef>
              <a:spcAft>
                <a:spcPts val="600"/>
              </a:spcAft>
            </a:pPr>
            <a:r>
              <a:rPr sz="1800" b="1" i="0">
                <a:latin typeface="Times New Roman"/>
              </a:rPr>
              <a:t>Key Application Features</a:t>
            </a:r>
          </a:p>
          <a:p>
            <a:pPr algn="l">
              <a:spcBef>
                <a:spcPts val="200"/>
              </a:spcBef>
              <a:spcAft>
                <a:spcPts val="400"/>
              </a:spcAft>
            </a:pPr>
            <a:r>
              <a:rPr sz="1500" b="0" i="0">
                <a:latin typeface="Times New Roman"/>
              </a:rPr>
              <a:t>• Smart Inventory: Track ingredients with real-time expiry alerts</a:t>
            </a:r>
          </a:p>
          <a:p>
            <a:pPr algn="l">
              <a:spcBef>
                <a:spcPts val="200"/>
              </a:spcBef>
              <a:spcAft>
                <a:spcPts val="400"/>
              </a:spcAft>
            </a:pPr>
            <a:r>
              <a:rPr sz="1500" b="0" i="0">
                <a:latin typeface="Times New Roman"/>
              </a:rPr>
              <a:t>• Recipe Matching: Discover recipes based on available kitchen ingredients</a:t>
            </a:r>
          </a:p>
          <a:p>
            <a:pPr algn="l">
              <a:spcBef>
                <a:spcPts val="200"/>
              </a:spcBef>
              <a:spcAft>
                <a:spcPts val="400"/>
              </a:spcAft>
            </a:pPr>
            <a:r>
              <a:rPr sz="1500" b="0" i="0">
                <a:latin typeface="Times New Roman"/>
              </a:rPr>
              <a:t>• Meal Tracking: Log meals with date and 1-5 star ratings</a:t>
            </a:r>
          </a:p>
          <a:p>
            <a:pPr algn="l">
              <a:spcBef>
                <a:spcPts val="200"/>
              </a:spcBef>
              <a:spcAft>
                <a:spcPts val="400"/>
              </a:spcAft>
            </a:pPr>
            <a:r>
              <a:rPr sz="1500" b="0" i="0">
                <a:latin typeface="Times New Roman"/>
              </a:rPr>
              <a:t>• Nutritional Dashboard: Per-user calorie tracking with aggregate analytics</a:t>
            </a:r>
          </a:p>
        </p:txBody>
      </p:sp>
      <p:sp>
        <p:nvSpPr>
          <p:cNvPr id="5" name="Slide Number Placeholder 4"/>
          <p:cNvSpPr>
            <a:spLocks noGrp="1"/>
          </p:cNvSpPr>
          <p:nvPr>
            <p:ph type="sldNum" sz="quarter" idx="12"/>
          </p:nvPr>
        </p:nvSpPr>
        <p:spPr/>
        <p:txBody>
          <a:bodyPr/>
          <a:lstStyle/>
          <a:p>
            <a:fld id="{B6D3A235-9A1B-814A-A45F-231E09344964}" type="slidenum">
              <a:rPr lang="en-US" smtClean="0"/>
              <a:t>8</a:t>
            </a:fld>
            <a:endParaRPr lang="en-US"/>
          </a:p>
        </p:txBody>
      </p:sp>
      <p:sp>
        <p:nvSpPr>
          <p:cNvPr id="9" name="Date Placeholder 8"/>
          <p:cNvSpPr>
            <a:spLocks noGrp="1"/>
          </p:cNvSpPr>
          <p:nvPr>
            <p:ph type="dt" sz="half" idx="10"/>
          </p:nvPr>
        </p:nvSpPr>
        <p:spPr/>
        <p:txBody>
          <a:bodyPr/>
          <a:lstStyle/>
          <a:p>
            <a:r>
              <a:rPr lang="en-US"/>
              <a:t>29 July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444" y="324333"/>
            <a:ext cx="10515600" cy="474511"/>
          </a:xfrm>
        </p:spPr>
        <p:txBody>
          <a:bodyPr>
            <a:normAutofit fontScale="90000"/>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259582" y="1061131"/>
            <a:ext cx="11669484" cy="5198156"/>
          </a:xfrm>
        </p:spPr>
        <p:txBody>
          <a:bodyPr wrap="square">
            <a:noAutofit/>
          </a:bodyPr>
          <a:lstStyle/>
          <a:p>
            <a:pPr algn="l">
              <a:spcBef>
                <a:spcPts val="0"/>
              </a:spcBef>
              <a:spcAft>
                <a:spcPts val="500"/>
              </a:spcAft>
            </a:pPr>
            <a:r>
              <a:rPr sz="1200" b="0" i="0">
                <a:latin typeface="Times New Roman"/>
              </a:rPr>
              <a:t>[1] S. Shajith and V. Jaitly, "Building an AI Powered Nutrition Tracking System," 2025 Int. Conf. on Inventive Computation Technologies (ICICT), IEEE, 2025.</a:t>
            </a:r>
          </a:p>
          <a:p>
            <a:pPr algn="l">
              <a:spcBef>
                <a:spcPts val="0"/>
              </a:spcBef>
              <a:spcAft>
                <a:spcPts val="500"/>
              </a:spcAft>
            </a:pPr>
            <a:r>
              <a:rPr sz="1200" b="0" i="0">
                <a:latin typeface="Times New Roman"/>
              </a:rPr>
              <a:t>[2] T. Chueh et al., "Mobile-Based Nutrition Tracker App Enhanced Dietitian-Guided 2:1:1 Diet-Induced Weight Loss," Nutrients, vol. 16, no. 14, MDPI, 2024.</a:t>
            </a:r>
          </a:p>
          <a:p>
            <a:pPr algn="l">
              <a:spcBef>
                <a:spcPts val="0"/>
              </a:spcBef>
              <a:spcAft>
                <a:spcPts val="500"/>
              </a:spcAft>
            </a:pPr>
            <a:r>
              <a:rPr sz="1200" b="0" i="0">
                <a:latin typeface="Times New Roman"/>
              </a:rPr>
              <a:t>[3] A. Jaiswal et al., "Revolutionizing Diet and Fitness Tracking with AI," 2025 2nd Int. Conf. on Computational Intelligence (CICTN), IEEE, 2025.</a:t>
            </a:r>
          </a:p>
          <a:p>
            <a:pPr algn="l">
              <a:spcBef>
                <a:spcPts val="0"/>
              </a:spcBef>
              <a:spcAft>
                <a:spcPts val="500"/>
              </a:spcAft>
            </a:pPr>
            <a:r>
              <a:rPr sz="1200" b="0" i="0">
                <a:latin typeface="Times New Roman"/>
              </a:rPr>
              <a:t>[4] F. Chen et al., "Assessment of the Accuracy of Nutrient Calculations of Five Popular Nutrition Tracking Applications," Public Health Nutrition, Cambridge Univ. Press, 2018.</a:t>
            </a:r>
          </a:p>
          <a:p>
            <a:pPr algn="l">
              <a:spcBef>
                <a:spcPts val="0"/>
              </a:spcBef>
              <a:spcAft>
                <a:spcPts val="500"/>
              </a:spcAft>
            </a:pPr>
            <a:r>
              <a:rPr sz="1200" b="0" i="0">
                <a:latin typeface="Times New Roman"/>
              </a:rPr>
              <a:t>[5] M. Santos and L. Park, "User Adherence Rates Across Nutrition Tracking Applications," Nutrition Research Review, vol. 3, no. 2, 2025.</a:t>
            </a:r>
          </a:p>
          <a:p>
            <a:pPr algn="l">
              <a:spcBef>
                <a:spcPts val="0"/>
              </a:spcBef>
              <a:spcAft>
                <a:spcPts val="500"/>
              </a:spcAft>
            </a:pPr>
            <a:r>
              <a:rPr sz="1200" b="0" i="0">
                <a:latin typeface="Times New Roman"/>
              </a:rPr>
              <a:t>[6] A. Darby et al., "A Review of Nutritional Tracking Mobile Applications for Diabetes Patient Use," Diabetes Technology &amp; Therapeutics, 2016.</a:t>
            </a:r>
          </a:p>
          <a:p>
            <a:pPr algn="l">
              <a:spcBef>
                <a:spcPts val="0"/>
              </a:spcBef>
              <a:spcAft>
                <a:spcPts val="500"/>
              </a:spcAft>
            </a:pPr>
            <a:r>
              <a:rPr sz="1200" b="0" i="0">
                <a:latin typeface="Times New Roman"/>
              </a:rPr>
              <a:t>[7] R. Elmasri and S. B. Navathe, "Fundamentals of Database Systems," 7th ed., Pearson, 2016.</a:t>
            </a:r>
          </a:p>
          <a:p>
            <a:pPr algn="l">
              <a:spcBef>
                <a:spcPts val="0"/>
              </a:spcBef>
              <a:spcAft>
                <a:spcPts val="500"/>
              </a:spcAft>
            </a:pPr>
            <a:r>
              <a:rPr sz="1200" b="0" i="0">
                <a:latin typeface="Times New Roman"/>
              </a:rPr>
              <a:t>[8] A. Silberschatz, H. F. Korth, and S. Sudarshan, "Database System Concepts," 7th ed., McGraw-Hill, 2019.</a:t>
            </a:r>
          </a:p>
          <a:p>
            <a:pPr algn="l">
              <a:spcBef>
                <a:spcPts val="0"/>
              </a:spcBef>
              <a:spcAft>
                <a:spcPts val="500"/>
              </a:spcAft>
            </a:pPr>
            <a:r>
              <a:rPr sz="1200" b="0" i="0">
                <a:latin typeface="Times New Roman"/>
              </a:rPr>
              <a:t>[9] MySQL 8.0 Reference Manual, Oracle Corporation, https://dev.mysql.com/doc/refman/8.0/en/</a:t>
            </a:r>
          </a:p>
          <a:p>
            <a:pPr algn="l">
              <a:spcBef>
                <a:spcPts val="0"/>
              </a:spcBef>
              <a:spcAft>
                <a:spcPts val="500"/>
              </a:spcAft>
            </a:pPr>
            <a:r>
              <a:rPr sz="1200" b="0" i="0">
                <a:latin typeface="Times New Roman"/>
              </a:rPr>
              <a:t>[10] Supabase Documentation, https://supabase.com/docs</a:t>
            </a:r>
          </a:p>
          <a:p>
            <a:pPr algn="l">
              <a:spcBef>
                <a:spcPts val="0"/>
              </a:spcBef>
              <a:spcAft>
                <a:spcPts val="500"/>
              </a:spcAft>
            </a:pPr>
            <a:r>
              <a:rPr sz="1200" b="0" i="0">
                <a:latin typeface="Times New Roman"/>
              </a:rPr>
              <a:t>[11] React Documentation, Meta Platforms Inc., https://react.dev/</a:t>
            </a:r>
          </a:p>
          <a:p>
            <a:pPr algn="l">
              <a:spcBef>
                <a:spcPts val="0"/>
              </a:spcBef>
              <a:spcAft>
                <a:spcPts val="500"/>
              </a:spcAft>
            </a:pPr>
            <a:r>
              <a:rPr sz="1200" b="0" i="0">
                <a:latin typeface="Times New Roman"/>
              </a:rPr>
              <a:t>[12] Express.js Documentation, https://expressjs.com/</a:t>
            </a:r>
          </a:p>
        </p:txBody>
      </p:sp>
      <p:sp>
        <p:nvSpPr>
          <p:cNvPr id="7"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200" b="0" i="0" u="none" strike="noStrike" cap="none" normalizeH="0" baseline="0">
                <a:ln>
                  <a:noFill/>
                </a:ln>
                <a:solidFill>
                  <a:srgbClr val="1F1F1F"/>
                </a:solidFill>
                <a:effectLst/>
                <a:latin typeface="ElsevierSans"/>
              </a:rPr>
              <a:t>, </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Slide Number Placeholder 7"/>
          <p:cNvSpPr>
            <a:spLocks noGrp="1"/>
          </p:cNvSpPr>
          <p:nvPr>
            <p:ph type="sldNum" sz="quarter" idx="12"/>
          </p:nvPr>
        </p:nvSpPr>
        <p:spPr/>
        <p:txBody>
          <a:bodyPr/>
          <a:lstStyle/>
          <a:p>
            <a:fld id="{B6D3A235-9A1B-814A-A45F-231E09344964}" type="slidenum">
              <a:rPr lang="en-US" smtClean="0"/>
              <a:t>9</a:t>
            </a:fld>
            <a:endParaRPr lang="en-US"/>
          </a:p>
        </p:txBody>
      </p:sp>
      <p:sp>
        <p:nvSpPr>
          <p:cNvPr id="9" name="Date Placeholder 8"/>
          <p:cNvSpPr>
            <a:spLocks noGrp="1"/>
          </p:cNvSpPr>
          <p:nvPr>
            <p:ph type="dt" sz="half" idx="10"/>
          </p:nvPr>
        </p:nvSpPr>
        <p:spPr/>
        <p:txBody>
          <a:bodyPr/>
          <a:lstStyle/>
          <a:p>
            <a:r>
              <a:rPr lang="en-US"/>
              <a:t>29 July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2"/>
          <a:stretch>
            <a:fillRect/>
          </a:stretch>
        </p:blipFill>
        <p:spPr>
          <a:xfrm>
            <a:off x="3017253" y="3248372"/>
            <a:ext cx="6157494" cy="1505843"/>
          </a:xfrm>
          <a:prstGeom prst="rect">
            <a:avLst/>
          </a:prstGeom>
        </p:spPr>
      </p:pic>
      <p:sp>
        <p:nvSpPr>
          <p:cNvPr id="9" name="Slide Number Placeholder 8"/>
          <p:cNvSpPr>
            <a:spLocks noGrp="1"/>
          </p:cNvSpPr>
          <p:nvPr>
            <p:ph type="sldNum" sz="quarter" idx="12"/>
          </p:nvPr>
        </p:nvSpPr>
        <p:spPr/>
        <p:txBody>
          <a:bodyPr/>
          <a:lstStyle/>
          <a:p>
            <a:fld id="{B6D3A235-9A1B-814A-A45F-231E09344964}" type="slidenum">
              <a:rPr lang="en-US" smtClean="0"/>
              <a:t>10</a:t>
            </a:fld>
            <a:endParaRPr lang="en-US"/>
          </a:p>
        </p:txBody>
      </p:sp>
      <p:sp>
        <p:nvSpPr>
          <p:cNvPr id="10" name="Date Placeholder 9"/>
          <p:cNvSpPr>
            <a:spLocks noGrp="1"/>
          </p:cNvSpPr>
          <p:nvPr>
            <p:ph type="dt" sz="half" idx="10"/>
          </p:nvPr>
        </p:nvSpPr>
        <p:spPr/>
        <p:txBody>
          <a:bodyPr/>
          <a:lstStyle/>
          <a:p>
            <a:r>
              <a:rPr lang="en-US"/>
              <a:t>29 July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9486"/>
            <a:ext cx="10515600" cy="61378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Review </a:t>
            </a:r>
            <a:endParaRPr lang="en-IN" b="1" dirty="0">
              <a:latin typeface="Times New Roman" panose="02020603050405020304" pitchFamily="18" charset="0"/>
              <a:cs typeface="Times New Roman" panose="02020603050405020304" pitchFamily="18"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88142413"/>
              </p:ext>
            </p:extLst>
          </p:nvPr>
        </p:nvGraphicFramePr>
        <p:xfrm>
          <a:off x="314354" y="984344"/>
          <a:ext cx="11559939" cy="5240933"/>
        </p:xfrm>
        <a:graphic>
          <a:graphicData uri="http://schemas.openxmlformats.org/drawingml/2006/table">
            <a:tbl>
              <a:tblPr firstRow="1" bandRow="1">
                <a:tableStyleId>{5C22544A-7EE6-4342-B048-85BDC9FD1C3A}</a:tableStyleId>
              </a:tblPr>
              <a:tblGrid>
                <a:gridCol w="591081">
                  <a:extLst>
                    <a:ext uri="{9D8B030D-6E8A-4147-A177-3AD203B41FA5}">
                      <a16:colId xmlns:a16="http://schemas.microsoft.com/office/drawing/2014/main" val="20000"/>
                    </a:ext>
                  </a:extLst>
                </a:gridCol>
                <a:gridCol w="1990165">
                  <a:extLst>
                    <a:ext uri="{9D8B030D-6E8A-4147-A177-3AD203B41FA5}">
                      <a16:colId xmlns:a16="http://schemas.microsoft.com/office/drawing/2014/main" val="20001"/>
                    </a:ext>
                  </a:extLst>
                </a:gridCol>
                <a:gridCol w="1910080">
                  <a:extLst>
                    <a:ext uri="{9D8B030D-6E8A-4147-A177-3AD203B41FA5}">
                      <a16:colId xmlns:a16="http://schemas.microsoft.com/office/drawing/2014/main" val="20002"/>
                    </a:ext>
                  </a:extLst>
                </a:gridCol>
                <a:gridCol w="2267473">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515140">
                  <a:extLst>
                    <a:ext uri="{9D8B030D-6E8A-4147-A177-3AD203B41FA5}">
                      <a16:colId xmlns:a16="http://schemas.microsoft.com/office/drawing/2014/main" val="20005"/>
                    </a:ext>
                  </a:extLst>
                </a:gridCol>
              </a:tblGrid>
              <a:tr h="763622">
                <a:tc>
                  <a:txBody>
                    <a:bodyPr/>
                    <a:lstStyle/>
                    <a:p>
                      <a:pPr algn="ctr"/>
                      <a:r>
                        <a:rPr lang="en-IN" sz="2200" dirty="0" err="1">
                          <a:latin typeface="Times New Roman" panose="02020603050405020304" pitchFamily="18" charset="0"/>
                          <a:cs typeface="Times New Roman" panose="02020603050405020304" pitchFamily="18" charset="0"/>
                        </a:rPr>
                        <a:t>S.No</a:t>
                      </a:r>
                      <a:r>
                        <a:rPr lang="en-IN" sz="220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Author’s name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Title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Methods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Merits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Demerits</a:t>
                      </a:r>
                      <a:r>
                        <a:rPr lang="en-IN" sz="2200" baseline="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2220424">
                <a:tc>
                  <a:txBody>
                    <a:bodyPr wrap="square"/>
                    <a:lstStyle/>
                    <a:p>
                      <a:pPr algn="l"/>
                      <a:r>
                        <a:rPr sz="1000" b="1" i="0">
                          <a:latin typeface="Times New Roman"/>
                        </a:rPr>
                        <a:t>3.</a:t>
                      </a:r>
                      <a:endParaRPr lang="en-US" sz="1800" dirty="0">
                        <a:latin typeface="Times New Roman" panose="02020603050405020304" pitchFamily="18" charset="0"/>
                        <a:cs typeface="Times New Roman" panose="02020603050405020304" pitchFamily="18" charset="0"/>
                      </a:endParaRPr>
                    </a:p>
                  </a:txBody>
                  <a:tcPr anchor="ctr"/>
                </a:tc>
                <a:tc>
                  <a:txBody>
                    <a:bodyPr wrap="square"/>
                    <a:lstStyle/>
                    <a:p>
                      <a:pPr algn="l">
                        <a:buNone/>
                      </a:pPr>
                      <a:r>
                        <a:rPr sz="1000" b="0" i="0">
                          <a:latin typeface="Times New Roman"/>
                        </a:rPr>
                        <a:t>A. Jaiswal, A. Solanki et al. (2025)</a:t>
                      </a:r>
                      <a:endParaRPr lang="en-GB" dirty="0">
                        <a:latin typeface="Times New Roman" panose="02020603050405020304" pitchFamily="18" charset="0"/>
                        <a:cs typeface="Times New Roman" panose="02020603050405020304" pitchFamily="18" charset="0"/>
                      </a:endParaRPr>
                    </a:p>
                  </a:txBody>
                  <a:tcPr anchor="ctr"/>
                </a:tc>
                <a:tc>
                  <a:txBody>
                    <a:bodyPr wrap="square"/>
                    <a:lstStyle/>
                    <a:p>
                      <a:pPr algn="l">
                        <a:buNone/>
                      </a:pPr>
                      <a:r>
                        <a:rPr sz="900" b="0" i="0">
                          <a:latin typeface="Times New Roman"/>
                        </a:rPr>
                        <a:t>Revolutionizing Diet and Fitness Tracking with AI: A User-Centric Approach</a:t>
                      </a:r>
                      <a:endParaRPr lang="en-GB"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Harris-Benedict formula for calorie estimation; KNN + content-based filtering; Flutter + Firebase</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Integrated diet + fitness tracking; personalized exercise plans; cross-platform mobile app</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No SQL-based data management; limited to single-user; no expiry tracking or inventory</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2256887">
                <a:tc>
                  <a:txBody>
                    <a:bodyPr wrap="square"/>
                    <a:lstStyle/>
                    <a:p>
                      <a:pPr algn="l"/>
                      <a:r>
                        <a:rPr sz="1000" b="1" i="0">
                          <a:latin typeface="Times New Roman"/>
                        </a:rPr>
                        <a:t>4.</a:t>
                      </a:r>
                      <a:endParaRPr lang="en-US" sz="1800" dirty="0">
                        <a:latin typeface="Times New Roman" panose="02020603050405020304" pitchFamily="18" charset="0"/>
                        <a:cs typeface="Times New Roman" panose="02020603050405020304" pitchFamily="18" charset="0"/>
                      </a:endParaRPr>
                    </a:p>
                  </a:txBody>
                  <a:tcPr anchor="ctr"/>
                </a:tc>
                <a:tc>
                  <a:txBody>
                    <a:bodyPr wrap="square"/>
                    <a:lstStyle/>
                    <a:p>
                      <a:pPr algn="l"/>
                      <a:r>
                        <a:rPr sz="1000" b="0" i="0">
                          <a:latin typeface="Times New Roman"/>
                        </a:rPr>
                        <a:t>F. Chen et al. (2018)</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buNone/>
                      </a:pPr>
                      <a:r>
                        <a:rPr sz="900" b="0" i="0">
                          <a:latin typeface="Times New Roman"/>
                        </a:rPr>
                        <a:t>Assessment of Accuracy of Nutrient Calculations of Five Popular Nutrition Tracking Apps</a:t>
                      </a:r>
                      <a:endParaRPr lang="en-IN" sz="1800" b="0"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Comparative analysis of 5 popular apps (MyFitnessPal, etc.); nutrient calculation accuracy assessment</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buNone/>
                      </a:pPr>
                      <a:r>
                        <a:rPr sz="900" b="0" i="0">
                          <a:latin typeface="Times New Roman"/>
                        </a:rPr>
                        <a:t>Identifies accuracy gaps in existing apps; evidence-based evaluation framework</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Only evaluates existing apps; no new system proposed; no database schema analysis</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bl>
          </a:graphicData>
        </a:graphic>
      </p:graphicFrame>
      <p:sp>
        <p:nvSpPr>
          <p:cNvPr id="5" name="Slide Number Placeholder 4"/>
          <p:cNvSpPr>
            <a:spLocks noGrp="1"/>
          </p:cNvSpPr>
          <p:nvPr>
            <p:ph type="sldNum" sz="quarter" idx="12"/>
          </p:nvPr>
        </p:nvSpPr>
        <p:spPr/>
        <p:txBody>
          <a:bodyPr/>
          <a:lstStyle/>
          <a:p>
            <a:fld id="{B6D3A235-9A1B-814A-A45F-231E09344964}" type="slidenum">
              <a:rPr lang="en-US" smtClean="0"/>
              <a:t>5</a:t>
            </a:fld>
            <a:endParaRPr lang="en-US"/>
          </a:p>
        </p:txBody>
      </p:sp>
      <p:sp>
        <p:nvSpPr>
          <p:cNvPr id="8" name="Date Placeholder 7"/>
          <p:cNvSpPr>
            <a:spLocks noGrp="1"/>
          </p:cNvSpPr>
          <p:nvPr>
            <p:ph type="dt" sz="half" idx="10"/>
          </p:nvPr>
        </p:nvSpPr>
        <p:spPr/>
        <p:txBody>
          <a:bodyPr/>
          <a:lstStyle/>
          <a:p>
            <a:r>
              <a:rPr lang="en-US"/>
              <a:t>29 July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9486"/>
            <a:ext cx="10515600" cy="61378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Review </a:t>
            </a:r>
            <a:endParaRPr lang="en-IN" b="1" dirty="0">
              <a:latin typeface="Times New Roman" panose="02020603050405020304" pitchFamily="18" charset="0"/>
              <a:cs typeface="Times New Roman" panose="02020603050405020304" pitchFamily="18"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88142413"/>
              </p:ext>
            </p:extLst>
          </p:nvPr>
        </p:nvGraphicFramePr>
        <p:xfrm>
          <a:off x="314354" y="984344"/>
          <a:ext cx="11559939" cy="5240933"/>
        </p:xfrm>
        <a:graphic>
          <a:graphicData uri="http://schemas.openxmlformats.org/drawingml/2006/table">
            <a:tbl>
              <a:tblPr firstRow="1" bandRow="1">
                <a:tableStyleId>{5C22544A-7EE6-4342-B048-85BDC9FD1C3A}</a:tableStyleId>
              </a:tblPr>
              <a:tblGrid>
                <a:gridCol w="591081">
                  <a:extLst>
                    <a:ext uri="{9D8B030D-6E8A-4147-A177-3AD203B41FA5}">
                      <a16:colId xmlns:a16="http://schemas.microsoft.com/office/drawing/2014/main" val="20000"/>
                    </a:ext>
                  </a:extLst>
                </a:gridCol>
                <a:gridCol w="1990165">
                  <a:extLst>
                    <a:ext uri="{9D8B030D-6E8A-4147-A177-3AD203B41FA5}">
                      <a16:colId xmlns:a16="http://schemas.microsoft.com/office/drawing/2014/main" val="20001"/>
                    </a:ext>
                  </a:extLst>
                </a:gridCol>
                <a:gridCol w="1910080">
                  <a:extLst>
                    <a:ext uri="{9D8B030D-6E8A-4147-A177-3AD203B41FA5}">
                      <a16:colId xmlns:a16="http://schemas.microsoft.com/office/drawing/2014/main" val="20002"/>
                    </a:ext>
                  </a:extLst>
                </a:gridCol>
                <a:gridCol w="2267473">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515140">
                  <a:extLst>
                    <a:ext uri="{9D8B030D-6E8A-4147-A177-3AD203B41FA5}">
                      <a16:colId xmlns:a16="http://schemas.microsoft.com/office/drawing/2014/main" val="20005"/>
                    </a:ext>
                  </a:extLst>
                </a:gridCol>
              </a:tblGrid>
              <a:tr h="763622">
                <a:tc>
                  <a:txBody>
                    <a:bodyPr/>
                    <a:lstStyle/>
                    <a:p>
                      <a:pPr algn="ctr"/>
                      <a:r>
                        <a:rPr lang="en-IN" sz="2200" dirty="0" err="1">
                          <a:latin typeface="Times New Roman" panose="02020603050405020304" pitchFamily="18" charset="0"/>
                          <a:cs typeface="Times New Roman" panose="02020603050405020304" pitchFamily="18" charset="0"/>
                        </a:rPr>
                        <a:t>S.No</a:t>
                      </a:r>
                      <a:r>
                        <a:rPr lang="en-IN" sz="220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Author’s name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Title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Methods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Merits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Demerits</a:t>
                      </a:r>
                      <a:r>
                        <a:rPr lang="en-IN" sz="2200" baseline="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2220424">
                <a:tc>
                  <a:txBody>
                    <a:bodyPr wrap="square"/>
                    <a:lstStyle/>
                    <a:p>
                      <a:pPr algn="l"/>
                      <a:r>
                        <a:rPr sz="1000" b="1" i="0">
                          <a:latin typeface="Times New Roman"/>
                        </a:rPr>
                        <a:t>3.</a:t>
                      </a:r>
                      <a:endParaRPr lang="en-US" sz="1800" dirty="0">
                        <a:latin typeface="Times New Roman" panose="02020603050405020304" pitchFamily="18" charset="0"/>
                        <a:cs typeface="Times New Roman" panose="02020603050405020304" pitchFamily="18" charset="0"/>
                      </a:endParaRPr>
                    </a:p>
                  </a:txBody>
                  <a:tcPr anchor="ctr"/>
                </a:tc>
                <a:tc>
                  <a:txBody>
                    <a:bodyPr wrap="square"/>
                    <a:lstStyle/>
                    <a:p>
                      <a:pPr algn="l">
                        <a:buNone/>
                      </a:pPr>
                      <a:r>
                        <a:rPr sz="1000" b="0" i="0">
                          <a:latin typeface="Times New Roman"/>
                        </a:rPr>
                        <a:t>A. Jaiswal, A. Solanki et al. (2025)</a:t>
                      </a:r>
                      <a:endParaRPr lang="en-GB" dirty="0">
                        <a:latin typeface="Times New Roman" panose="02020603050405020304" pitchFamily="18" charset="0"/>
                        <a:cs typeface="Times New Roman" panose="02020603050405020304" pitchFamily="18" charset="0"/>
                      </a:endParaRPr>
                    </a:p>
                  </a:txBody>
                  <a:tcPr anchor="ctr"/>
                </a:tc>
                <a:tc>
                  <a:txBody>
                    <a:bodyPr wrap="square"/>
                    <a:lstStyle/>
                    <a:p>
                      <a:pPr algn="l">
                        <a:buNone/>
                      </a:pPr>
                      <a:r>
                        <a:rPr sz="900" b="0" i="0">
                          <a:latin typeface="Times New Roman"/>
                        </a:rPr>
                        <a:t>Revolutionizing Diet and Fitness Tracking with AI: A User-Centric Approach</a:t>
                      </a:r>
                      <a:endParaRPr lang="en-GB"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Harris-Benedict formula for calorie estimation; KNN + content-based filtering; Flutter + Firebase</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Integrated diet + fitness tracking; personalized exercise plans; cross-platform mobile app</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No SQL-based data management; limited to single-user; no expiry tracking or inventory</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2256887">
                <a:tc>
                  <a:txBody>
                    <a:bodyPr wrap="square"/>
                    <a:lstStyle/>
                    <a:p>
                      <a:pPr algn="l"/>
                      <a:r>
                        <a:rPr sz="1000" b="1" i="0">
                          <a:latin typeface="Times New Roman"/>
                        </a:rPr>
                        <a:t>4.</a:t>
                      </a:r>
                      <a:endParaRPr lang="en-US" sz="1800" dirty="0">
                        <a:latin typeface="Times New Roman" panose="02020603050405020304" pitchFamily="18" charset="0"/>
                        <a:cs typeface="Times New Roman" panose="02020603050405020304" pitchFamily="18" charset="0"/>
                      </a:endParaRPr>
                    </a:p>
                  </a:txBody>
                  <a:tcPr anchor="ctr"/>
                </a:tc>
                <a:tc>
                  <a:txBody>
                    <a:bodyPr wrap="square"/>
                    <a:lstStyle/>
                    <a:p>
                      <a:pPr algn="l"/>
                      <a:r>
                        <a:rPr sz="1000" b="0" i="0">
                          <a:latin typeface="Times New Roman"/>
                        </a:rPr>
                        <a:t>F. Chen et al. (2018)</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buNone/>
                      </a:pPr>
                      <a:r>
                        <a:rPr sz="900" b="0" i="0">
                          <a:latin typeface="Times New Roman"/>
                        </a:rPr>
                        <a:t>Assessment of Accuracy of Nutrient Calculations of Five Popular Nutrition Tracking Apps</a:t>
                      </a:r>
                      <a:endParaRPr lang="en-IN" sz="1800" b="0"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Comparative analysis of 5 popular apps (MyFitnessPal, etc.); nutrient calculation accuracy assessment</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buNone/>
                      </a:pPr>
                      <a:r>
                        <a:rPr sz="900" b="0" i="0">
                          <a:latin typeface="Times New Roman"/>
                        </a:rPr>
                        <a:t>Identifies accuracy gaps in existing apps; evidence-based evaluation framework</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Only evaluates existing apps; no new system proposed; no database schema analysis</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bl>
          </a:graphicData>
        </a:graphic>
      </p:graphicFrame>
      <p:sp>
        <p:nvSpPr>
          <p:cNvPr id="5" name="Slide Number Placeholder 4"/>
          <p:cNvSpPr>
            <a:spLocks noGrp="1"/>
          </p:cNvSpPr>
          <p:nvPr>
            <p:ph type="sldNum" sz="quarter" idx="12"/>
          </p:nvPr>
        </p:nvSpPr>
        <p:spPr/>
        <p:txBody>
          <a:bodyPr/>
          <a:lstStyle/>
          <a:p>
            <a:fld id="{B6D3A235-9A1B-814A-A45F-231E09344964}" type="slidenum">
              <a:rPr lang="en-US" smtClean="0"/>
              <a:t>5</a:t>
            </a:fld>
            <a:endParaRPr lang="en-US"/>
          </a:p>
        </p:txBody>
      </p:sp>
      <p:sp>
        <p:nvSpPr>
          <p:cNvPr id="8" name="Date Placeholder 7"/>
          <p:cNvSpPr>
            <a:spLocks noGrp="1"/>
          </p:cNvSpPr>
          <p:nvPr>
            <p:ph type="dt" sz="half" idx="10"/>
          </p:nvPr>
        </p:nvSpPr>
        <p:spPr/>
        <p:txBody>
          <a:bodyPr/>
          <a:lstStyle/>
          <a:p>
            <a:r>
              <a:rPr lang="en-US"/>
              <a:t>29 July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9486"/>
            <a:ext cx="10515600" cy="61378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Review </a:t>
            </a:r>
            <a:endParaRPr lang="en-IN" b="1" dirty="0">
              <a:latin typeface="Times New Roman" panose="02020603050405020304" pitchFamily="18" charset="0"/>
              <a:cs typeface="Times New Roman" panose="02020603050405020304" pitchFamily="18"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88142413"/>
              </p:ext>
            </p:extLst>
          </p:nvPr>
        </p:nvGraphicFramePr>
        <p:xfrm>
          <a:off x="314354" y="984344"/>
          <a:ext cx="11559939" cy="5240933"/>
        </p:xfrm>
        <a:graphic>
          <a:graphicData uri="http://schemas.openxmlformats.org/drawingml/2006/table">
            <a:tbl>
              <a:tblPr firstRow="1" bandRow="1">
                <a:tableStyleId>{5C22544A-7EE6-4342-B048-85BDC9FD1C3A}</a:tableStyleId>
              </a:tblPr>
              <a:tblGrid>
                <a:gridCol w="591081">
                  <a:extLst>
                    <a:ext uri="{9D8B030D-6E8A-4147-A177-3AD203B41FA5}">
                      <a16:colId xmlns:a16="http://schemas.microsoft.com/office/drawing/2014/main" val="20000"/>
                    </a:ext>
                  </a:extLst>
                </a:gridCol>
                <a:gridCol w="1990165">
                  <a:extLst>
                    <a:ext uri="{9D8B030D-6E8A-4147-A177-3AD203B41FA5}">
                      <a16:colId xmlns:a16="http://schemas.microsoft.com/office/drawing/2014/main" val="20001"/>
                    </a:ext>
                  </a:extLst>
                </a:gridCol>
                <a:gridCol w="1910080">
                  <a:extLst>
                    <a:ext uri="{9D8B030D-6E8A-4147-A177-3AD203B41FA5}">
                      <a16:colId xmlns:a16="http://schemas.microsoft.com/office/drawing/2014/main" val="20002"/>
                    </a:ext>
                  </a:extLst>
                </a:gridCol>
                <a:gridCol w="2267473">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515140">
                  <a:extLst>
                    <a:ext uri="{9D8B030D-6E8A-4147-A177-3AD203B41FA5}">
                      <a16:colId xmlns:a16="http://schemas.microsoft.com/office/drawing/2014/main" val="20005"/>
                    </a:ext>
                  </a:extLst>
                </a:gridCol>
              </a:tblGrid>
              <a:tr h="763622">
                <a:tc>
                  <a:txBody>
                    <a:bodyPr/>
                    <a:lstStyle/>
                    <a:p>
                      <a:pPr algn="ctr"/>
                      <a:r>
                        <a:rPr lang="en-IN" sz="2200" dirty="0" err="1">
                          <a:latin typeface="Times New Roman" panose="02020603050405020304" pitchFamily="18" charset="0"/>
                          <a:cs typeface="Times New Roman" panose="02020603050405020304" pitchFamily="18" charset="0"/>
                        </a:rPr>
                        <a:t>S.No</a:t>
                      </a:r>
                      <a:r>
                        <a:rPr lang="en-IN" sz="220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Author’s name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Title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Methods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Merits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Demerits</a:t>
                      </a:r>
                      <a:r>
                        <a:rPr lang="en-IN" sz="2200" baseline="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2220424">
                <a:tc>
                  <a:txBody>
                    <a:bodyPr wrap="square"/>
                    <a:lstStyle/>
                    <a:p>
                      <a:pPr algn="l"/>
                      <a:r>
                        <a:rPr sz="1000" b="1" i="0">
                          <a:latin typeface="Times New Roman"/>
                        </a:rPr>
                        <a:t>3.</a:t>
                      </a:r>
                      <a:endParaRPr lang="en-US" sz="1800" dirty="0">
                        <a:latin typeface="Times New Roman" panose="02020603050405020304" pitchFamily="18" charset="0"/>
                        <a:cs typeface="Times New Roman" panose="02020603050405020304" pitchFamily="18" charset="0"/>
                      </a:endParaRPr>
                    </a:p>
                  </a:txBody>
                  <a:tcPr anchor="ctr"/>
                </a:tc>
                <a:tc>
                  <a:txBody>
                    <a:bodyPr wrap="square"/>
                    <a:lstStyle/>
                    <a:p>
                      <a:pPr algn="l">
                        <a:buNone/>
                      </a:pPr>
                      <a:r>
                        <a:rPr sz="1000" b="0" i="0">
                          <a:latin typeface="Times New Roman"/>
                        </a:rPr>
                        <a:t>A. Jaiswal, A. Solanki et al. (2025)</a:t>
                      </a:r>
                      <a:endParaRPr lang="en-GB" dirty="0">
                        <a:latin typeface="Times New Roman" panose="02020603050405020304" pitchFamily="18" charset="0"/>
                        <a:cs typeface="Times New Roman" panose="02020603050405020304" pitchFamily="18" charset="0"/>
                      </a:endParaRPr>
                    </a:p>
                  </a:txBody>
                  <a:tcPr anchor="ctr"/>
                </a:tc>
                <a:tc>
                  <a:txBody>
                    <a:bodyPr wrap="square"/>
                    <a:lstStyle/>
                    <a:p>
                      <a:pPr algn="l">
                        <a:buNone/>
                      </a:pPr>
                      <a:r>
                        <a:rPr sz="900" b="0" i="0">
                          <a:latin typeface="Times New Roman"/>
                        </a:rPr>
                        <a:t>Revolutionizing Diet and Fitness Tracking with AI: A User-Centric Approach</a:t>
                      </a:r>
                      <a:endParaRPr lang="en-GB"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Harris-Benedict formula for calorie estimation; KNN + content-based filtering; Flutter + Firebase</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Integrated diet + fitness tracking; personalized exercise plans; cross-platform mobile app</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No SQL-based data management; limited to single-user; no expiry tracking or inventory</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2256887">
                <a:tc>
                  <a:txBody>
                    <a:bodyPr wrap="square"/>
                    <a:lstStyle/>
                    <a:p>
                      <a:pPr algn="l"/>
                      <a:r>
                        <a:rPr sz="1000" b="1" i="0">
                          <a:latin typeface="Times New Roman"/>
                        </a:rPr>
                        <a:t>4.</a:t>
                      </a:r>
                      <a:endParaRPr lang="en-US" sz="1800" dirty="0">
                        <a:latin typeface="Times New Roman" panose="02020603050405020304" pitchFamily="18" charset="0"/>
                        <a:cs typeface="Times New Roman" panose="02020603050405020304" pitchFamily="18" charset="0"/>
                      </a:endParaRPr>
                    </a:p>
                  </a:txBody>
                  <a:tcPr anchor="ctr"/>
                </a:tc>
                <a:tc>
                  <a:txBody>
                    <a:bodyPr wrap="square"/>
                    <a:lstStyle/>
                    <a:p>
                      <a:pPr algn="l"/>
                      <a:r>
                        <a:rPr sz="1000" b="0" i="0">
                          <a:latin typeface="Times New Roman"/>
                        </a:rPr>
                        <a:t>F. Chen et al. (2018)</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buNone/>
                      </a:pPr>
                      <a:r>
                        <a:rPr sz="900" b="0" i="0">
                          <a:latin typeface="Times New Roman"/>
                        </a:rPr>
                        <a:t>Assessment of Accuracy of Nutrient Calculations of Five Popular Nutrition Tracking Apps</a:t>
                      </a:r>
                      <a:endParaRPr lang="en-IN" sz="1800" b="0"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Comparative analysis of 5 popular apps (MyFitnessPal, etc.); nutrient calculation accuracy assessment</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buNone/>
                      </a:pPr>
                      <a:r>
                        <a:rPr sz="900" b="0" i="0">
                          <a:latin typeface="Times New Roman"/>
                        </a:rPr>
                        <a:t>Identifies accuracy gaps in existing apps; evidence-based evaluation framework</a:t>
                      </a:r>
                      <a:endParaRPr lang="en-IN" sz="1800" dirty="0">
                        <a:latin typeface="Times New Roman" panose="02020603050405020304" pitchFamily="18" charset="0"/>
                        <a:cs typeface="Times New Roman" panose="02020603050405020304" pitchFamily="18" charset="0"/>
                      </a:endParaRPr>
                    </a:p>
                  </a:txBody>
                  <a:tcPr anchor="ctr"/>
                </a:tc>
                <a:tc>
                  <a:txBody>
                    <a:bodyPr wrap="square"/>
                    <a:lstStyle/>
                    <a:p>
                      <a:pPr algn="l"/>
                      <a:r>
                        <a:rPr sz="900" b="0" i="0">
                          <a:latin typeface="Times New Roman"/>
                        </a:rPr>
                        <a:t>Only evaluates existing apps; no new system proposed; no database schema analysis</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bl>
          </a:graphicData>
        </a:graphic>
      </p:graphicFrame>
      <p:sp>
        <p:nvSpPr>
          <p:cNvPr id="5" name="Slide Number Placeholder 4"/>
          <p:cNvSpPr>
            <a:spLocks noGrp="1"/>
          </p:cNvSpPr>
          <p:nvPr>
            <p:ph type="sldNum" sz="quarter" idx="12"/>
          </p:nvPr>
        </p:nvSpPr>
        <p:spPr/>
        <p:txBody>
          <a:bodyPr/>
          <a:lstStyle/>
          <a:p>
            <a:fld id="{B6D3A235-9A1B-814A-A45F-231E09344964}" type="slidenum">
              <a:rPr lang="en-US" smtClean="0"/>
              <a:t>5</a:t>
            </a:fld>
            <a:endParaRPr lang="en-US"/>
          </a:p>
        </p:txBody>
      </p:sp>
      <p:sp>
        <p:nvSpPr>
          <p:cNvPr id="8" name="Date Placeholder 7"/>
          <p:cNvSpPr>
            <a:spLocks noGrp="1"/>
          </p:cNvSpPr>
          <p:nvPr>
            <p:ph type="dt" sz="half" idx="10"/>
          </p:nvPr>
        </p:nvSpPr>
        <p:spPr/>
        <p:txBody>
          <a:bodyPr/>
          <a:lstStyle/>
          <a:p>
            <a:r>
              <a:rPr lang="en-US"/>
              <a:t>29 July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TotalTime>
  <Words>107</Words>
  <Application>Microsoft Office PowerPoint</Application>
  <PresentationFormat>Widescreen</PresentationFormat>
  <Paragraphs>50</Paragraphs>
  <Slides>10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Light</vt:lpstr>
      <vt:lpstr>ElsevierSans</vt:lpstr>
      <vt:lpstr>Times New Roman</vt:lpstr>
      <vt:lpstr>Wingdings</vt:lpstr>
      <vt:lpstr>Office Theme</vt:lpstr>
      <vt:lpstr>Titlle</vt:lpstr>
      <vt:lpstr>Abstract </vt:lpstr>
      <vt:lpstr>Introduction </vt:lpstr>
      <vt:lpstr>PowerPoint Presentation</vt:lpstr>
      <vt:lpstr>Literature Review </vt:lpstr>
      <vt:lpstr>PowerPoint Presentation</vt:lpstr>
      <vt:lpstr>Proposed work -Explanation </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proposed work</dc:title>
  <dc:creator>mani iz</dc:creator>
  <cp:lastModifiedBy>Saravanan P</cp:lastModifiedBy>
  <cp:revision>300</cp:revision>
  <dcterms:created xsi:type="dcterms:W3CDTF">2022-09-13T08:56:00Z</dcterms:created>
  <dcterms:modified xsi:type="dcterms:W3CDTF">2026-08-07T04:42:22Z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D08F9FAA6B7E4AE58517ED9850002E9F_12</vt:lpwstr>
  </property>
  <property fmtid="{D5CDD505-2E9C-101B-9397-08002B2CF9AE}" pid="3" name="KSOProductBuildVer">
    <vt:lpwstr>1033-12.1.0.27458</vt:lpwstr>
  </property>
</Properties>
</file>