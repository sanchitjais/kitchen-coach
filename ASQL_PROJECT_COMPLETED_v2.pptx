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8"/>
  </p:notesMasterIdLst>
  <p:sldIdLst>
    <p:sldId id="256" r:id="rId2"/>
    <p:sldId id="306" r:id="rId3"/>
    <p:sldId id="293" r:id="rId4"/>
    <p:sldId id="289" r:id="rId5"/>
    <p:sldId id="290" r:id="rId6"/>
    <p:sldId id="312" r:id="rId7"/>
    <p:sldId id="313" r:id="rId8"/>
    <p:sldId id="314" r:id="rId9"/>
    <p:sldId id="315" r:id="rId10"/>
    <p:sldId id="266" r:id="rId11"/>
    <p:sldId id="279" r:id="rId12"/>
    <p:sldId id="308" r:id="rId13"/>
    <p:sldId id="316" r:id="rId14"/>
    <p:sldId id="283" r:id="rId15"/>
    <p:sldId id="317" r:id="rId16"/>
    <p:sldId id="30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D5FC79"/>
    <a:srgbClr val="73FEFF"/>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44" autoAdjust="0"/>
    <p:restoredTop sz="94669"/>
  </p:normalViewPr>
  <p:slideViewPr>
    <p:cSldViewPr snapToGrid="0" snapToObjects="1" showGuides="1">
      <p:cViewPr>
        <p:scale>
          <a:sx n="66" d="100"/>
          <a:sy n="66" d="100"/>
        </p:scale>
        <p:origin x="1258" y="41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C3DA0E-D1FD-BC4E-848A-CADAF0C17C7F}" type="datetimeFigureOut">
              <a:rPr lang="en-US" smtClean="0"/>
              <a:t>8/14/2026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FDB9C3-3AFD-454D-9BAE-9D714207E35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4FDB9C3-3AFD-454D-9BAE-9D714207E35B}"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4FDB9C3-3AFD-454D-9BAE-9D714207E35B}"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r>
              <a:rPr lang="en-US"/>
              <a:t>29 July 2026</a:t>
            </a:r>
          </a:p>
        </p:txBody>
      </p:sp>
      <p:sp>
        <p:nvSpPr>
          <p:cNvPr id="6" name="Footer Placeholder 5"/>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7" name="Slide Number Placeholder 6"/>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r>
              <a:rPr lang="en-US"/>
              <a:t>29 July 2026</a:t>
            </a:r>
          </a:p>
        </p:txBody>
      </p:sp>
      <p:sp>
        <p:nvSpPr>
          <p:cNvPr id="8" name="Footer Placeholder 7"/>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9" name="Slide Number Placeholder 8"/>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r>
              <a:rPr lang="en-US"/>
              <a:t>29 July 2026</a:t>
            </a:r>
          </a:p>
        </p:txBody>
      </p:sp>
      <p:sp>
        <p:nvSpPr>
          <p:cNvPr id="4" name="Footer Placeholder 3"/>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5" name="Slide Number Placeholder 4"/>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29 July 2026</a:t>
            </a:r>
          </a:p>
        </p:txBody>
      </p:sp>
      <p:sp>
        <p:nvSpPr>
          <p:cNvPr id="3" name="Footer Placeholder 2"/>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4" name="Slide Number Placeholder 3"/>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US"/>
              <a:t>29 July 2026</a:t>
            </a:r>
          </a:p>
        </p:txBody>
      </p:sp>
      <p:sp>
        <p:nvSpPr>
          <p:cNvPr id="6" name="Footer Placeholder 5"/>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7" name="Slide Number Placeholder 6"/>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US"/>
              <a:t>29 July 2026</a:t>
            </a:r>
          </a:p>
        </p:txBody>
      </p:sp>
      <p:sp>
        <p:nvSpPr>
          <p:cNvPr id="6" name="Footer Placeholder 5"/>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7" name="Slide Number Placeholder 6"/>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29 July 2026</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D3A235-9A1B-814A-A45F-231E0934496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p:cNvSpPr>
            <a:spLocks noGrp="1" noRot="1" noChangeAspect="1" noMove="1" noResize="1" noEditPoints="1" noAdjustHandles="1" noChangeArrowheads="1" noChangeShapeType="1" noTextEdit="1"/>
          </p:cNvSpPr>
          <p:nvPr/>
        </p:nvSpPr>
        <p:spPr bwMode="ltGray">
          <a:xfrm>
            <a:off x="336884" y="321177"/>
            <a:ext cx="4332307" cy="6179552"/>
          </a:xfrm>
          <a:prstGeom prst="rect">
            <a:avLst/>
          </a:prstGeom>
          <a:solidFill>
            <a:srgbClr val="404040">
              <a:alpha val="89804"/>
            </a:srgbClr>
          </a:solidFill>
          <a:ln w="127000" cap="sq" cmpd="thinThick">
            <a:solidFill>
              <a:srgbClr val="595959">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圖片 9" descr="Logo, company name&#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5438" y="461286"/>
            <a:ext cx="5748242" cy="2967714"/>
          </a:xfrm>
          <a:prstGeom prst="rect">
            <a:avLst/>
          </a:prstGeom>
        </p:spPr>
      </p:pic>
      <p:pic>
        <p:nvPicPr>
          <p:cNvPr id="5" name="Picture 4" descr="Text&#10;&#10;Description automatically generated with low confidence"/>
          <p:cNvPicPr>
            <a:picLocks noChangeAspect="1"/>
          </p:cNvPicPr>
          <p:nvPr/>
        </p:nvPicPr>
        <p:blipFill>
          <a:blip r:embed="rId4" cstate="print"/>
          <a:srcRect l="12259" t="15730" r="39436" b="26966"/>
          <a:stretch>
            <a:fillRect/>
          </a:stretch>
        </p:blipFill>
        <p:spPr>
          <a:xfrm>
            <a:off x="5785719" y="3239411"/>
            <a:ext cx="5127680" cy="2732348"/>
          </a:xfrm>
          <a:prstGeom prst="rect">
            <a:avLst/>
          </a:prstGeom>
        </p:spPr>
      </p:pic>
      <p:sp>
        <p:nvSpPr>
          <p:cNvPr id="2" name="Title 1"/>
          <p:cNvSpPr>
            <a:spLocks noGrp="1"/>
          </p:cNvSpPr>
          <p:nvPr>
            <p:ph type="ctrTitle"/>
          </p:nvPr>
        </p:nvSpPr>
        <p:spPr>
          <a:xfrm>
            <a:off x="336884" y="791807"/>
            <a:ext cx="4279196" cy="1752189"/>
          </a:xfrm>
        </p:spPr>
        <p:txBody>
          <a:bodyPr>
            <a:noAutofit/>
          </a:bodyPr>
          <a:lstStyle/>
          <a:p>
            <a:pPr algn="just">
              <a:spcBef>
                <a:spcPts val="1000"/>
              </a:spcBef>
            </a:pPr>
            <a:r>
              <a:rPr lang="en-GB" sz="2800" b="1" dirty="0" err="1">
                <a:solidFill>
                  <a:srgbClr val="FFFFFF"/>
                </a:solidFill>
                <a:latin typeface="Times New Roman" panose="02020603050405020304" pitchFamily="18" charset="0"/>
                <a:ea typeface="+mn-ea"/>
                <a:cs typeface="Times New Roman" panose="02020603050405020304" pitchFamily="18" charset="0"/>
              </a:rPr>
              <a:t>WEIGHT COACH APP</a:t>
            </a:r>
            <a:endParaRPr lang="en-GB" sz="2800" b="1" dirty="0">
              <a:solidFill>
                <a:srgbClr val="FFFFFF"/>
              </a:solidFill>
              <a:latin typeface="Times New Roman" panose="02020603050405020304" pitchFamily="18" charset="0"/>
              <a:ea typeface="+mn-ea"/>
              <a:cs typeface="Times New Roman" panose="02020603050405020304" pitchFamily="18" charset="0"/>
            </a:endParaRPr>
          </a:p>
          <a:p>
            <a:pPr algn="just"/>
            <a:r>
              <a:rPr sz="2000" b="0" i="0">
                <a:solidFill>
                  <a:srgbClr val="FFFFFF"/>
                </a:solidFill>
                <a:latin typeface="Times New Roman"/>
              </a:rPr>
              <a:t>Database Management System</a:t>
            </a:r>
          </a:p>
        </p:txBody>
      </p:sp>
      <p:sp>
        <p:nvSpPr>
          <p:cNvPr id="3" name="Subtitle 2"/>
          <p:cNvSpPr>
            <a:spLocks noGrp="1"/>
          </p:cNvSpPr>
          <p:nvPr>
            <p:ph type="subTitle" idx="1"/>
          </p:nvPr>
        </p:nvSpPr>
        <p:spPr>
          <a:xfrm>
            <a:off x="255119" y="3014625"/>
            <a:ext cx="4332307" cy="2677964"/>
          </a:xfrm>
        </p:spPr>
        <p:txBody>
          <a:bodyPr>
            <a:noAutofit/>
          </a:bodyPr>
          <a:lstStyle/>
          <a:p>
            <a:r>
              <a:rPr lang="en-US" sz="2200" b="1" i="0" dirty="0">
                <a:solidFill>
                  <a:srgbClr val="FFFFFF"/>
                </a:solidFill>
                <a:latin typeface="Times New Roman" panose="02020603050405020304" pitchFamily="18" charset="0"/>
                <a:cs typeface="Times New Roman" panose="02020603050405020304" pitchFamily="18" charset="0"/>
              </a:rPr>
              <a:t>Sanchit Jaiswal</a:t>
            </a:r>
          </a:p>
          <a:p>
            <a:r>
              <a:rPr lang="en-US" sz="2200" b="0" i="0" dirty="0">
                <a:solidFill>
                  <a:srgbClr val="FFFFFF"/>
                </a:solidFill>
                <a:latin typeface="Times New Roman" panose="02020603050405020304" pitchFamily="18" charset="0"/>
                <a:cs typeface="Times New Roman" panose="02020603050405020304" pitchFamily="18" charset="0"/>
              </a:rPr>
              <a:t>(RA2411003011741)</a:t>
            </a:r>
          </a:p>
          <a:p>
            <a:endParaRPr lang="en-US" sz="2200" b="1" dirty="0">
              <a:solidFill>
                <a:srgbClr val="FFFFFF"/>
              </a:solidFill>
              <a:latin typeface="Times New Roman" panose="02020603050405020304" pitchFamily="18" charset="0"/>
              <a:cs typeface="Times New Roman" panose="02020603050405020304" pitchFamily="18" charset="0"/>
            </a:endParaRPr>
          </a:p>
          <a:p>
            <a:r>
              <a:rPr lang="en-US" sz="2200" b="0" i="0">
                <a:solidFill>
                  <a:srgbClr val="FFFFFF"/>
                </a:solidFill>
                <a:latin typeface="Times New Roman" panose="02020603050405020304" pitchFamily="18" charset="0"/>
                <a:cs typeface="Times New Roman" panose="02020603050405020304" pitchFamily="18" charset="0"/>
              </a:rPr>
              <a:t>Department</a:t>
            </a:r>
            <a:r>
              <a:rPr lang="en-US" sz="2200" b="0" i="0" dirty="0">
                <a:solidFill>
                  <a:srgbClr val="FFFFFF"/>
                </a:solidFill>
                <a:latin typeface="Times New Roman" panose="02020603050405020304" pitchFamily="18" charset="0"/>
                <a:cs typeface="Times New Roman" panose="02020603050405020304" pitchFamily="18" charset="0"/>
              </a:rPr>
              <a:t>: CTECH</a:t>
            </a:r>
          </a:p>
          <a:p>
            <a:endParaRPr lang="en-US" sz="2000" dirty="0">
              <a:solidFill>
                <a:srgbClr val="FFFFFF"/>
              </a:solidFill>
              <a:latin typeface="Times New Roman" panose="02020603050405020304" pitchFamily="18" charset="0"/>
              <a:cs typeface="Times New Roman" panose="02020603050405020304" pitchFamily="18" charset="0"/>
            </a:endParaRPr>
          </a:p>
          <a:p>
            <a:r>
              <a:rPr lang="en-US" sz="2000" b="0" i="0" dirty="0">
                <a:solidFill>
                  <a:srgbClr val="FFFFFF"/>
                </a:solidFill>
                <a:latin typeface="Times New Roman" panose="02020603050405020304" pitchFamily="18" charset="0"/>
                <a:cs typeface="Times New Roman" panose="02020603050405020304" pitchFamily="18" charset="0"/>
              </a:rPr>
              <a:t>29 JULY 2026</a:t>
            </a:r>
            <a:endParaRPr lang="en-US"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524" y="136525"/>
            <a:ext cx="10515600" cy="644735"/>
          </a:xfrm>
        </p:spPr>
        <p:txBody>
          <a:bodyPr>
            <a:noAutofit/>
          </a:bodyPr>
          <a:lstStyle/>
          <a:p>
            <a:pPr algn="ctr"/>
            <a:r>
              <a:rPr lang="en-US" sz="4000" b="1" dirty="0">
                <a:latin typeface="Times New Roman" panose="02020603050405020304" pitchFamily="18" charset="0"/>
                <a:cs typeface="Times New Roman" panose="02020603050405020304" pitchFamily="18" charset="0"/>
              </a:rPr>
              <a:t>Abstract</a:t>
            </a:r>
            <a:r>
              <a:rPr lang="en-US" sz="4000" b="1" dirty="0"/>
              <a:t> </a:t>
            </a:r>
            <a:endParaRPr lang="en-IN" sz="4000" b="1" dirty="0"/>
          </a:p>
        </p:txBody>
      </p:sp>
      <p:sp>
        <p:nvSpPr>
          <p:cNvPr id="10" name="Content Placeholder 2"/>
          <p:cNvSpPr>
            <a:spLocks noGrp="1"/>
          </p:cNvSpPr>
          <p:nvPr>
            <p:ph idx="1"/>
          </p:nvPr>
        </p:nvSpPr>
        <p:spPr>
          <a:xfrm>
            <a:off x="261257" y="1032086"/>
            <a:ext cx="11658600" cy="5575089"/>
          </a:xfrm>
        </p:spPr>
        <p:txBody>
          <a:bodyPr wrap="square">
            <a:normAutofit/>
          </a:bodyPr>
          <a:lstStyle/>
          <a:p>
            <a:pPr algn="just">
              <a:spcBef>
                <a:spcPts val="0"/>
              </a:spcBef>
              <a:spcAft>
                <a:spcPts val="600"/>
              </a:spcAft>
            </a:pPr>
            <a:r>
              <a:rPr sz="1800" b="0" i="0">
                <a:latin typeface="Times New Roman"/>
              </a:rPr>
              <a:t>The Weight Coach App is a comprehensive database-driven application designed to help users manage their kitchen inventory, discover recipes based on available ingredients, track daily meal consumption, and monitor nutritional intake — all while reducing food waste. The system is built on a robust MySQL 8.0 relational database that demonstrates advanced SQL concepts covered in the 21CSC205P Database Management Systems course.</a:t>
            </a:r>
          </a:p>
          <a:p>
            <a:pPr algn="just">
              <a:spcBef>
                <a:spcPts val="600"/>
              </a:spcBef>
              <a:spcAft>
                <a:spcPts val="600"/>
              </a:spcAft>
            </a:pPr>
            <a:r>
              <a:rPr sz="1800" b="0" i="0">
                <a:latin typeface="Times New Roman"/>
              </a:rPr>
              <a:t>The database schema comprises five interconnected tables — users, ingredients, recipes, recipe_ingredients (junction table for M:N relationships), and meal_logs — enforcing referential integrity through primary keys, foreign keys, UNIQUE constraints, CHECK constraints, and cascading deletes. The project demonstrates DDL operations, DML, aggregate functions (COUNT, SUM, AVG, MIN, MAX) with GROUP BY and HAVING clauses, set operations (UNION, INTERSECT, EXCEPT equivalents), subqueries, and multiple JOIN types.</a:t>
            </a:r>
          </a:p>
          <a:p>
            <a:pPr algn="just">
              <a:spcBef>
                <a:spcPts val="600"/>
              </a:spcBef>
              <a:spcAft>
                <a:spcPts val="600"/>
              </a:spcAft>
            </a:pPr>
            <a:r>
              <a:rPr sz="1800" b="0" i="0">
                <a:latin typeface="Times New Roman"/>
              </a:rPr>
              <a:t>Additionally, the project implements Views for reusable query encapsulation, Triggers for automated business logic enforcement, Cursors for row-by-row processing, Transactions with SAVEPOINTs for ACID-compliant operations, and Concurrency Control using row-level and table-level locks. A full-stack web application (React + TypeScript + Vite on Supabase/PostgreSQL) provides the user-facing interface.</a:t>
            </a:r>
          </a:p>
        </p:txBody>
      </p:sp>
      <p:sp>
        <p:nvSpPr>
          <p:cNvPr id="5" name="Slide Number Placeholder 4"/>
          <p:cNvSpPr>
            <a:spLocks noGrp="1"/>
          </p:cNvSpPr>
          <p:nvPr>
            <p:ph type="sldNum" sz="quarter" idx="12"/>
          </p:nvPr>
        </p:nvSpPr>
        <p:spPr/>
        <p:txBody>
          <a:bodyPr/>
          <a:lstStyle/>
          <a:p>
            <a:fld id="{B6D3A235-9A1B-814A-A45F-231E09344964}" type="slidenum">
              <a:rPr lang="en-US" smtClean="0"/>
              <a:t>2</a:t>
            </a:fld>
            <a:endParaRPr lang="en-US"/>
          </a:p>
        </p:txBody>
      </p:sp>
      <p:sp>
        <p:nvSpPr>
          <p:cNvPr id="7" name="Date Placeholder 6"/>
          <p:cNvSpPr>
            <a:spLocks noGrp="1"/>
          </p:cNvSpPr>
          <p:nvPr>
            <p:ph type="dt" sz="half" idx="10"/>
          </p:nvPr>
        </p:nvSpPr>
        <p:spPr/>
        <p:txBody>
          <a:bodyPr/>
          <a:lstStyle/>
          <a:p>
            <a:r>
              <a:rPr lang="en-US"/>
              <a:t>29 July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0370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Introduction</a:t>
            </a:r>
            <a:r>
              <a:rPr lang="en-US" dirty="0"/>
              <a:t> </a:t>
            </a:r>
            <a:endParaRPr lang="en-IN" dirty="0"/>
          </a:p>
        </p:txBody>
      </p:sp>
      <p:sp>
        <p:nvSpPr>
          <p:cNvPr id="3" name="Content Placeholder 2"/>
          <p:cNvSpPr>
            <a:spLocks noGrp="1"/>
          </p:cNvSpPr>
          <p:nvPr>
            <p:ph idx="1"/>
          </p:nvPr>
        </p:nvSpPr>
        <p:spPr>
          <a:xfrm>
            <a:off x="217715" y="828169"/>
            <a:ext cx="11713028" cy="5710743"/>
          </a:xfrm>
        </p:spPr>
        <p:txBody>
          <a:bodyPr wrap="square">
            <a:noAutofit/>
          </a:bodyPr>
          <a:lstStyle/>
          <a:p>
            <a:pPr algn="just">
              <a:spcBef>
                <a:spcPts val="0"/>
              </a:spcBef>
              <a:spcAft>
                <a:spcPts val="600"/>
              </a:spcAft>
            </a:pPr>
            <a:r>
              <a:rPr sz="1700" b="0" i="0">
                <a:latin typeface="Times New Roman"/>
              </a:rPr>
              <a:t>In today's health-conscious world, managing nutrition effectively requires tracking what food is available, what meals are being consumed, and what nutritional value they provide. The Weight Coach App addresses this need by providing a unified platform for ingredient inventory management, recipe discovery, meal logging, and nutritional tracking.</a:t>
            </a:r>
          </a:p>
          <a:p>
            <a:pPr algn="just">
              <a:spcBef>
                <a:spcPts val="800"/>
              </a:spcBef>
              <a:spcAft>
                <a:spcPts val="600"/>
              </a:spcAft>
            </a:pPr>
            <a:r>
              <a:rPr sz="1700" b="1" i="0">
                <a:latin typeface="Times New Roman"/>
              </a:rPr>
              <a:t>Problem Statement:</a:t>
            </a:r>
          </a:p>
          <a:p>
            <a:pPr algn="l">
              <a:spcBef>
                <a:spcPts val="200"/>
              </a:spcBef>
              <a:spcAft>
                <a:spcPts val="400"/>
              </a:spcAft>
            </a:pPr>
            <a:r>
              <a:rPr sz="1600" b="0" i="0">
                <a:latin typeface="Times New Roman"/>
              </a:rPr>
              <a:t>• Users often waste food because they lose track of ingredient expiry dates</a:t>
            </a:r>
          </a:p>
          <a:p>
            <a:pPr algn="l">
              <a:spcBef>
                <a:spcPts val="200"/>
              </a:spcBef>
              <a:spcAft>
                <a:spcPts val="400"/>
              </a:spcAft>
            </a:pPr>
            <a:r>
              <a:rPr sz="1600" b="0" i="0">
                <a:latin typeface="Times New Roman"/>
              </a:rPr>
              <a:t>• Finding recipes that match available ingredients is time-consuming</a:t>
            </a:r>
          </a:p>
          <a:p>
            <a:pPr algn="l">
              <a:spcBef>
                <a:spcPts val="200"/>
              </a:spcBef>
              <a:spcAft>
                <a:spcPts val="400"/>
              </a:spcAft>
            </a:pPr>
            <a:r>
              <a:rPr sz="1600" b="0" i="0">
                <a:latin typeface="Times New Roman"/>
              </a:rPr>
              <a:t>• Manual meal tracking is tedious and inconsistent</a:t>
            </a:r>
          </a:p>
          <a:p>
            <a:pPr algn="l">
              <a:spcBef>
                <a:spcPts val="200"/>
              </a:spcBef>
              <a:spcAft>
                <a:spcPts val="400"/>
              </a:spcAft>
            </a:pPr>
            <a:r>
              <a:rPr sz="1600" b="0" i="0">
                <a:latin typeface="Times New Roman"/>
              </a:rPr>
              <a:t>• Nutritional monitoring requires cross-referencing multiple sources</a:t>
            </a:r>
          </a:p>
          <a:p>
            <a:pPr algn="just">
              <a:spcBef>
                <a:spcPts val="800"/>
              </a:spcBef>
              <a:spcAft>
                <a:spcPts val="600"/>
              </a:spcAft>
            </a:pPr>
            <a:r>
              <a:rPr sz="1700" b="1" i="0">
                <a:latin typeface="Times New Roman"/>
              </a:rPr>
              <a:t>Objectives:</a:t>
            </a:r>
          </a:p>
          <a:p>
            <a:pPr algn="l">
              <a:spcBef>
                <a:spcPts val="200"/>
              </a:spcBef>
              <a:spcAft>
                <a:spcPts val="400"/>
              </a:spcAft>
            </a:pPr>
            <a:r>
              <a:rPr sz="1600" b="0" i="0">
                <a:latin typeface="Times New Roman"/>
              </a:rPr>
              <a:t>• Design a normalized relational database schema with proper constraints</a:t>
            </a:r>
          </a:p>
          <a:p>
            <a:pPr algn="l">
              <a:spcBef>
                <a:spcPts val="200"/>
              </a:spcBef>
              <a:spcAft>
                <a:spcPts val="400"/>
              </a:spcAft>
            </a:pPr>
            <a:r>
              <a:rPr sz="1600" b="0" i="0">
                <a:latin typeface="Times New Roman"/>
              </a:rPr>
              <a:t>• Implement smart recipe recommendations based on available inventory</a:t>
            </a:r>
          </a:p>
          <a:p>
            <a:pPr algn="l">
              <a:spcBef>
                <a:spcPts val="200"/>
              </a:spcBef>
              <a:spcAft>
                <a:spcPts val="400"/>
              </a:spcAft>
            </a:pPr>
            <a:r>
              <a:rPr sz="1600" b="0" i="0">
                <a:latin typeface="Times New Roman"/>
              </a:rPr>
              <a:t>• Automate inventory management using triggers and transactions</a:t>
            </a:r>
          </a:p>
          <a:p>
            <a:pPr algn="l">
              <a:spcBef>
                <a:spcPts val="200"/>
              </a:spcBef>
              <a:spcAft>
                <a:spcPts val="400"/>
              </a:spcAft>
            </a:pPr>
            <a:r>
              <a:rPr sz="1600" b="0" i="0">
                <a:latin typeface="Times New Roman"/>
              </a:rPr>
              <a:t>• Demonstrate advanced SQL: Views, Cursors, Transactions, Concurrency</a:t>
            </a:r>
          </a:p>
          <a:p>
            <a:pPr algn="l">
              <a:spcBef>
                <a:spcPts val="200"/>
              </a:spcBef>
              <a:spcAft>
                <a:spcPts val="400"/>
              </a:spcAft>
            </a:pPr>
            <a:r>
              <a:rPr sz="1600" b="0" i="0">
                <a:latin typeface="Times New Roman"/>
              </a:rPr>
              <a:t>• Build a full-stack web app with a React frontend on a managed Postgres backend</a:t>
            </a:r>
          </a:p>
          <a:p>
            <a:pPr algn="just">
              <a:spcBef>
                <a:spcPts val="800"/>
              </a:spcBef>
              <a:spcAft>
                <a:spcPts val="600"/>
              </a:spcAft>
            </a:pPr>
            <a:r>
              <a:rPr sz="1700" b="1" i="0">
                <a:latin typeface="Times New Roman"/>
              </a:rPr>
              <a:t>Technology Stack:</a:t>
            </a:r>
          </a:p>
          <a:p>
            <a:pPr algn="l">
              <a:spcBef>
                <a:spcPts val="200"/>
              </a:spcBef>
              <a:spcAft>
                <a:spcPts val="400"/>
              </a:spcAft>
            </a:pPr>
            <a:r>
              <a:rPr sz="1600" b="0" i="0">
                <a:latin typeface="Times New Roman"/>
              </a:rPr>
              <a:t>• Database: MySQL 8.0 (coursework)  |  Backend: Supabase  |  Frontend: React + TypeScript + Vite</a:t>
            </a:r>
          </a:p>
          <a:p>
            <a:pPr algn="l">
              <a:spcBef>
                <a:spcPts val="200"/>
              </a:spcBef>
              <a:spcAft>
                <a:spcPts val="400"/>
              </a:spcAft>
            </a:pPr>
            <a:r>
              <a:rPr sz="1600" b="0" i="0">
                <a:latin typeface="Times New Roman"/>
              </a:rPr>
              <a:t>• Cloud DB: Supabase (PostgreSQL)  |  Styling: Tailwind CSS + shadcn/ui</a:t>
            </a:r>
          </a:p>
        </p:txBody>
      </p:sp>
      <p:sp>
        <p:nvSpPr>
          <p:cNvPr id="7" name="Slide Number Placeholder 6"/>
          <p:cNvSpPr>
            <a:spLocks noGrp="1"/>
          </p:cNvSpPr>
          <p:nvPr>
            <p:ph type="sldNum" sz="quarter" idx="12"/>
          </p:nvPr>
        </p:nvSpPr>
        <p:spPr/>
        <p:txBody>
          <a:bodyPr/>
          <a:lstStyle/>
          <a:p>
            <a:fld id="{B6D3A235-9A1B-814A-A45F-231E09344964}" type="slidenum">
              <a:rPr lang="en-US" smtClean="0"/>
              <a:t>3</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543611625"/>
              </p:ext>
            </p:extLst>
          </p:nvPr>
        </p:nvGraphicFramePr>
        <p:xfrm>
          <a:off x="314354" y="1495405"/>
          <a:ext cx="11559939" cy="5157510"/>
        </p:xfrm>
        <a:graphic>
          <a:graphicData uri="http://schemas.openxmlformats.org/drawingml/2006/table">
            <a:tbl>
              <a:tblPr firstRow="1" bandRow="1">
                <a:tableStyleId>{5C22544A-7EE6-4342-B048-85BDC9FD1C3A}</a:tableStyleId>
              </a:tblPr>
              <a:tblGrid>
                <a:gridCol w="600046">
                  <a:extLst>
                    <a:ext uri="{9D8B030D-6E8A-4147-A177-3AD203B41FA5}">
                      <a16:colId xmlns:a16="http://schemas.microsoft.com/office/drawing/2014/main" val="20000"/>
                    </a:ext>
                  </a:extLst>
                </a:gridCol>
                <a:gridCol w="1739153">
                  <a:extLst>
                    <a:ext uri="{9D8B030D-6E8A-4147-A177-3AD203B41FA5}">
                      <a16:colId xmlns:a16="http://schemas.microsoft.com/office/drawing/2014/main" val="20001"/>
                    </a:ext>
                  </a:extLst>
                </a:gridCol>
                <a:gridCol w="2070847">
                  <a:extLst>
                    <a:ext uri="{9D8B030D-6E8A-4147-A177-3AD203B41FA5}">
                      <a16:colId xmlns:a16="http://schemas.microsoft.com/office/drawing/2014/main" val="20002"/>
                    </a:ext>
                  </a:extLst>
                </a:gridCol>
                <a:gridCol w="2572871">
                  <a:extLst>
                    <a:ext uri="{9D8B030D-6E8A-4147-A177-3AD203B41FA5}">
                      <a16:colId xmlns:a16="http://schemas.microsoft.com/office/drawing/2014/main" val="20003"/>
                    </a:ext>
                  </a:extLst>
                </a:gridCol>
                <a:gridCol w="2232211">
                  <a:extLst>
                    <a:ext uri="{9D8B030D-6E8A-4147-A177-3AD203B41FA5}">
                      <a16:colId xmlns:a16="http://schemas.microsoft.com/office/drawing/2014/main" val="20004"/>
                    </a:ext>
                  </a:extLst>
                </a:gridCol>
                <a:gridCol w="2344811">
                  <a:extLst>
                    <a:ext uri="{9D8B030D-6E8A-4147-A177-3AD203B41FA5}">
                      <a16:colId xmlns:a16="http://schemas.microsoft.com/office/drawing/2014/main" val="20005"/>
                    </a:ext>
                  </a:extLst>
                </a:gridCol>
              </a:tblGrid>
              <a:tr h="0">
                <a:tc>
                  <a:txBody>
                    <a:bodyPr/>
                    <a:lstStyle/>
                    <a:p>
                      <a:pPr algn="ctr"/>
                      <a:r>
                        <a:rPr lang="en-IN" sz="2200" dirty="0" err="1">
                          <a:latin typeface="Times New Roman" panose="02020603050405020304" pitchFamily="18" charset="0"/>
                          <a:cs typeface="Times New Roman" panose="02020603050405020304" pitchFamily="18" charset="0"/>
                        </a:rPr>
                        <a:t>S.No</a:t>
                      </a:r>
                      <a:r>
                        <a:rPr lang="en-IN"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Author’s name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Title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Methods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Merits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Demerits</a:t>
                      </a:r>
                      <a:r>
                        <a:rPr lang="en-IN" sz="2200" baseline="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105901">
                <a:tc>
                  <a:txBody>
                    <a:bodyPr/>
                    <a:lstStyle/>
                    <a:p>
                      <a:pPr algn="l"/>
                      <a:r>
                        <a:rPr sz="1000" b="1">
                          <a:latin typeface="Times New Roman"/>
                        </a:rPr>
                        <a:t>1.</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Shajith S. &amp; V. Jaitly (2025)</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Building an AI Powered Nutrition Tracking System</a:t>
                      </a:r>
                      <a:endParaRPr lang="en-IN" sz="1800" b="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BMI evaluation combined with a curated food–calorie dataset; CNN-based food recognition; AI recommendation engine scoring breakfast, lunch, snacks and dinner</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Personalised meal suggestions tied to individual caloric need; automates daily calorie totalling; links BMI to nutritional analysis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Depends heavily on image quality; no kitchen inventory or expiry handling; no relational schema or multi-user design</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2289609">
                <a:tc>
                  <a:txBody>
                    <a:bodyPr/>
                    <a:lstStyle/>
                    <a:p>
                      <a:pPr algn="l"/>
                      <a:r>
                        <a:rPr sz="1000" b="1">
                          <a:latin typeface="Times New Roman"/>
                        </a:rPr>
                        <a:t>2.</a:t>
                      </a:r>
                    </a:p>
                  </a:txBody>
                  <a:tcPr anchor="ctr"/>
                </a:tc>
                <a:tc>
                  <a:txBody>
                    <a:bodyPr/>
                    <a:lstStyle/>
                    <a:p>
                      <a:pPr algn="l"/>
                      <a:r>
                        <a:rPr sz="1000" b="0">
                          <a:latin typeface="Times New Roman"/>
                        </a:rPr>
                        <a:t>T.-L. Chueh, Z.-L. Wang, Y. J. Ngu et al. (2024)</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marL="0" algn="l" defTabSz="914400" rtl="0" eaLnBrk="1" latinLnBrk="0" hangingPunct="1">
                        <a:buNone/>
                      </a:pPr>
                      <a:r>
                        <a:rPr sz="1000" b="0">
                          <a:latin typeface="Times New Roman"/>
                        </a:rPr>
                        <a:t>A Mobile-Based Nutrition Tracker App Enhanced Dietitian-Guided 2:1:1 Diet-Induced Weight Loss</a:t>
                      </a:r>
                      <a:endParaRPr lang="en-IN" sz="1800" b="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sz="1000" b="0">
                          <a:latin typeface="Times New Roman"/>
                        </a:rPr>
                        <a:t>8-week retrospective cohort of 10,297 participants; mobile tracker with a 2:1:1 portion-control plate and flexible low-carbohydrate diet; daily records reviewed by registered dietitians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Very large sample; intervention group lost 4.78% vs 1.54% body weight; shows app plus dietitian beats app alone</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Short 8-week window and retrospective design; tracks intake only — no ingredient inventory or recipe matching</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
        <p:nvSpPr>
          <p:cNvPr id="3" name="Title 1"/>
          <p:cNvSpPr txBox="1"/>
          <p:nvPr/>
        </p:nvSpPr>
        <p:spPr>
          <a:xfrm>
            <a:off x="1971903" y="136524"/>
            <a:ext cx="8244840" cy="6967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cs typeface="Times New Roman" panose="02020603050405020304" pitchFamily="18" charset="0"/>
              </a:rPr>
              <a:t>Literature Review</a:t>
            </a:r>
          </a:p>
        </p:txBody>
      </p:sp>
      <p:sp>
        <p:nvSpPr>
          <p:cNvPr id="5" name="Slide Number Placeholder 4"/>
          <p:cNvSpPr>
            <a:spLocks noGrp="1"/>
          </p:cNvSpPr>
          <p:nvPr>
            <p:ph type="sldNum" sz="quarter" idx="12"/>
          </p:nvPr>
        </p:nvSpPr>
        <p:spPr/>
        <p:txBody>
          <a:bodyPr/>
          <a:lstStyle/>
          <a:p>
            <a:fld id="{B6D3A235-9A1B-814A-A45F-231E09344964}" type="slidenum">
              <a:rPr lang="en-US" smtClean="0"/>
              <a:t>4</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486"/>
            <a:ext cx="10515600" cy="61378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Review </a:t>
            </a:r>
            <a:endParaRPr lang="en-IN" b="1"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88142413"/>
              </p:ext>
            </p:extLst>
          </p:nvPr>
        </p:nvGraphicFramePr>
        <p:xfrm>
          <a:off x="314354" y="984344"/>
          <a:ext cx="11559939" cy="5240933"/>
        </p:xfrm>
        <a:graphic>
          <a:graphicData uri="http://schemas.openxmlformats.org/drawingml/2006/table">
            <a:tbl>
              <a:tblPr firstRow="1" bandRow="1">
                <a:tableStyleId>{5C22544A-7EE6-4342-B048-85BDC9FD1C3A}</a:tableStyleId>
              </a:tblPr>
              <a:tblGrid>
                <a:gridCol w="591081">
                  <a:extLst>
                    <a:ext uri="{9D8B030D-6E8A-4147-A177-3AD203B41FA5}">
                      <a16:colId xmlns:a16="http://schemas.microsoft.com/office/drawing/2014/main" val="20000"/>
                    </a:ext>
                  </a:extLst>
                </a:gridCol>
                <a:gridCol w="1990165">
                  <a:extLst>
                    <a:ext uri="{9D8B030D-6E8A-4147-A177-3AD203B41FA5}">
                      <a16:colId xmlns:a16="http://schemas.microsoft.com/office/drawing/2014/main" val="20001"/>
                    </a:ext>
                  </a:extLst>
                </a:gridCol>
                <a:gridCol w="1910080">
                  <a:extLst>
                    <a:ext uri="{9D8B030D-6E8A-4147-A177-3AD203B41FA5}">
                      <a16:colId xmlns:a16="http://schemas.microsoft.com/office/drawing/2014/main" val="20002"/>
                    </a:ext>
                  </a:extLst>
                </a:gridCol>
                <a:gridCol w="2267473">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515140">
                  <a:extLst>
                    <a:ext uri="{9D8B030D-6E8A-4147-A177-3AD203B41FA5}">
                      <a16:colId xmlns:a16="http://schemas.microsoft.com/office/drawing/2014/main" val="20005"/>
                    </a:ext>
                  </a:extLst>
                </a:gridCol>
              </a:tblGrid>
              <a:tr h="763622">
                <a:tc>
                  <a:txBody>
                    <a:bodyPr/>
                    <a:lstStyle/>
                    <a:p>
                      <a:pPr algn="ctr"/>
                      <a:r>
                        <a:rPr lang="en-IN" sz="2200" dirty="0" err="1">
                          <a:latin typeface="Times New Roman" panose="02020603050405020304" pitchFamily="18" charset="0"/>
                          <a:cs typeface="Times New Roman" panose="02020603050405020304" pitchFamily="18" charset="0"/>
                        </a:rPr>
                        <a:t>S.No</a:t>
                      </a:r>
                      <a:r>
                        <a:rPr lang="en-IN"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Author’s name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Title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Methods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Merits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Demerits</a:t>
                      </a:r>
                      <a:r>
                        <a:rPr lang="en-IN" sz="2200" baseline="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220424">
                <a:tc>
                  <a:txBody>
                    <a:bodyPr/>
                    <a:lstStyle/>
                    <a:p>
                      <a:pPr algn="l"/>
                      <a:r>
                        <a:rPr sz="1000" b="1">
                          <a:latin typeface="Times New Roman"/>
                        </a:rPr>
                        <a:t>3.</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A. Jaiswal, A. Solanki, A. Tomar et al. (2025)</a:t>
                      </a:r>
                      <a:endParaRPr lang="en-GB"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Revolutionizing Diet and Fitness Tracking with AI: A User-Centric Approach to Nutrition and Wellness</a:t>
                      </a:r>
                      <a:endParaRPr lang="en-GB"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“Diet Recall” mobile platform; Harris–Benedict formula for maintenance calories; K-Nearest Neighbours and content-based filtering for meal and workout plans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Integrates diet with fitness tracking; personalises on age, weight, height, activity level and dietary restrictions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Recommends from a fixed catalogue rather than what the user actually holds; no expiry or stock control; single-user</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2256887">
                <a:tc>
                  <a:txBody>
                    <a:bodyPr/>
                    <a:lstStyle/>
                    <a:p>
                      <a:pPr algn="l"/>
                      <a:r>
                        <a:rPr sz="1000" b="1">
                          <a:latin typeface="Times New Roman"/>
                        </a:rPr>
                        <a:t>4.</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C. Griffiths, L. Harnack &amp; M. A. Pereira (2018)</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Assessment of the Accuracy of Nutrient Calculations of Five Popular Nutrition Tracking Applications</a:t>
                      </a:r>
                      <a:endParaRPr lang="en-IN" sz="1800" b="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Comparative evaluation of five consumer nutrition-tracking apps, benchmarking their nutrient calculations against a reference research food database</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Quantifies accuracy gaps users cannot see for themselves; evidence-based framework; motivates trustworthy nutrient data</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Evaluates existing apps only — proposes no system, schema or database design of its own</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
        <p:nvSpPr>
          <p:cNvPr id="5" name="Slide Number Placeholder 4"/>
          <p:cNvSpPr>
            <a:spLocks noGrp="1"/>
          </p:cNvSpPr>
          <p:nvPr>
            <p:ph type="sldNum" sz="quarter" idx="12"/>
          </p:nvPr>
        </p:nvSpPr>
        <p:spPr/>
        <p:txBody>
          <a:bodyPr/>
          <a:lstStyle/>
          <a:p>
            <a:fld id="{B6D3A235-9A1B-814A-A45F-231E09344964}" type="slidenum">
              <a:rPr lang="en-US" smtClean="0"/>
              <a:t>5</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486"/>
            <a:ext cx="10515600" cy="61378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Review </a:t>
            </a:r>
            <a:endParaRPr lang="en-IN" b="1"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88142413"/>
              </p:ext>
            </p:extLst>
          </p:nvPr>
        </p:nvGraphicFramePr>
        <p:xfrm>
          <a:off x="314354" y="984344"/>
          <a:ext cx="11559939" cy="5240933"/>
        </p:xfrm>
        <a:graphic>
          <a:graphicData uri="http://schemas.openxmlformats.org/drawingml/2006/table">
            <a:tbl>
              <a:tblPr firstRow="1" bandRow="1">
                <a:tableStyleId>{5C22544A-7EE6-4342-B048-85BDC9FD1C3A}</a:tableStyleId>
              </a:tblPr>
              <a:tblGrid>
                <a:gridCol w="591081">
                  <a:extLst>
                    <a:ext uri="{9D8B030D-6E8A-4147-A177-3AD203B41FA5}">
                      <a16:colId xmlns:a16="http://schemas.microsoft.com/office/drawing/2014/main" val="20000"/>
                    </a:ext>
                  </a:extLst>
                </a:gridCol>
                <a:gridCol w="1990165">
                  <a:extLst>
                    <a:ext uri="{9D8B030D-6E8A-4147-A177-3AD203B41FA5}">
                      <a16:colId xmlns:a16="http://schemas.microsoft.com/office/drawing/2014/main" val="20001"/>
                    </a:ext>
                  </a:extLst>
                </a:gridCol>
                <a:gridCol w="1910080">
                  <a:extLst>
                    <a:ext uri="{9D8B030D-6E8A-4147-A177-3AD203B41FA5}">
                      <a16:colId xmlns:a16="http://schemas.microsoft.com/office/drawing/2014/main" val="20002"/>
                    </a:ext>
                  </a:extLst>
                </a:gridCol>
                <a:gridCol w="2267473">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515140">
                  <a:extLst>
                    <a:ext uri="{9D8B030D-6E8A-4147-A177-3AD203B41FA5}">
                      <a16:colId xmlns:a16="http://schemas.microsoft.com/office/drawing/2014/main" val="20005"/>
                    </a:ext>
                  </a:extLst>
                </a:gridCol>
              </a:tblGrid>
              <a:tr h="763622">
                <a:tc>
                  <a:txBody>
                    <a:bodyPr/>
                    <a:lstStyle/>
                    <a:p>
                      <a:pPr algn="ctr"/>
                      <a:r>
                        <a:rPr lang="en-IN" sz="2200" dirty="0" err="1">
                          <a:latin typeface="Times New Roman" panose="02020603050405020304" pitchFamily="18" charset="0"/>
                          <a:cs typeface="Times New Roman" panose="02020603050405020304" pitchFamily="18" charset="0"/>
                        </a:rPr>
                        <a:t>S.No</a:t>
                      </a:r>
                      <a:r>
                        <a:rPr lang="en-IN"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Author’s name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Title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Methods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Merits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Demerits</a:t>
                      </a:r>
                      <a:r>
                        <a:rPr lang="en-IN" sz="2200" baseline="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220424">
                <a:tc>
                  <a:txBody>
                    <a:bodyPr/>
                    <a:lstStyle/>
                    <a:p>
                      <a:pPr algn="l"/>
                      <a:r>
                        <a:rPr sz="1000" b="1">
                          <a:latin typeface="Times New Roman"/>
                        </a:rPr>
                        <a:t>5.</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W. Min, S. Jiang, L. Liu, Y. Rui &amp; R. Jain (2019)</a:t>
                      </a:r>
                      <a:endParaRPr lang="en-GB"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A Survey on Food Computing</a:t>
                      </a:r>
                      <a:endParaRPr lang="en-GB"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Survey consolidating heterogeneous food data sources and the tasks built on them — perception, recognition, retrieval, recommendation and monitoring</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Comprehensive taxonomy of datasets, tasks and applications; the standard reference for framing food-data research</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Survey rather than an implementation; little attention to household inventory or transactional data management</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2256887">
                <a:tc>
                  <a:txBody>
                    <a:bodyPr/>
                    <a:lstStyle/>
                    <a:p>
                      <a:pPr algn="l"/>
                      <a:r>
                        <a:rPr sz="1000" b="1">
                          <a:latin typeface="Times New Roman"/>
                        </a:rPr>
                        <a:t>6.</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A. Salvador, N. Hynes, Y. Aytar et al. (2017)</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Learning Cross-Modal Embeddings for Cooking Recipes and Food Images</a:t>
                      </a:r>
                      <a:endParaRPr lang="en-IN" sz="1800" b="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Introduces Recipe1M (1M+ recipes, 800k images); trains a joint neural embedding of recipe text and images, regularised by a high-level classification objective</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Largest public recipe corpus; image–recipe retrieval rivalling human performance; code, data and models released</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Needs large-scale GPU training; retrieval is image-driven with no notion of stock on hand, quantities or expiry</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
        <p:nvSpPr>
          <p:cNvPr id="5" name="Slide Number Placeholder 4"/>
          <p:cNvSpPr>
            <a:spLocks noGrp="1"/>
          </p:cNvSpPr>
          <p:nvPr>
            <p:ph type="sldNum" sz="quarter" idx="12"/>
          </p:nvPr>
        </p:nvSpPr>
        <p:spPr/>
        <p:txBody>
          <a:bodyPr/>
          <a:lstStyle/>
          <a:p>
            <a:fld id="{B6D3A235-9A1B-814A-A45F-231E09344964}" type="slidenum">
              <a:rPr lang="en-US" smtClean="0"/>
              <a:t>6</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486"/>
            <a:ext cx="10515600" cy="61378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Review </a:t>
            </a:r>
            <a:endParaRPr lang="en-IN" b="1"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88142413"/>
              </p:ext>
            </p:extLst>
          </p:nvPr>
        </p:nvGraphicFramePr>
        <p:xfrm>
          <a:off x="314354" y="984344"/>
          <a:ext cx="11559939" cy="5240933"/>
        </p:xfrm>
        <a:graphic>
          <a:graphicData uri="http://schemas.openxmlformats.org/drawingml/2006/table">
            <a:tbl>
              <a:tblPr firstRow="1" bandRow="1">
                <a:tableStyleId>{5C22544A-7EE6-4342-B048-85BDC9FD1C3A}</a:tableStyleId>
              </a:tblPr>
              <a:tblGrid>
                <a:gridCol w="591081">
                  <a:extLst>
                    <a:ext uri="{9D8B030D-6E8A-4147-A177-3AD203B41FA5}">
                      <a16:colId xmlns:a16="http://schemas.microsoft.com/office/drawing/2014/main" val="20000"/>
                    </a:ext>
                  </a:extLst>
                </a:gridCol>
                <a:gridCol w="1990165">
                  <a:extLst>
                    <a:ext uri="{9D8B030D-6E8A-4147-A177-3AD203B41FA5}">
                      <a16:colId xmlns:a16="http://schemas.microsoft.com/office/drawing/2014/main" val="20001"/>
                    </a:ext>
                  </a:extLst>
                </a:gridCol>
                <a:gridCol w="1910080">
                  <a:extLst>
                    <a:ext uri="{9D8B030D-6E8A-4147-A177-3AD203B41FA5}">
                      <a16:colId xmlns:a16="http://schemas.microsoft.com/office/drawing/2014/main" val="20002"/>
                    </a:ext>
                  </a:extLst>
                </a:gridCol>
                <a:gridCol w="2267473">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515140">
                  <a:extLst>
                    <a:ext uri="{9D8B030D-6E8A-4147-A177-3AD203B41FA5}">
                      <a16:colId xmlns:a16="http://schemas.microsoft.com/office/drawing/2014/main" val="20005"/>
                    </a:ext>
                  </a:extLst>
                </a:gridCol>
              </a:tblGrid>
              <a:tr h="763622">
                <a:tc>
                  <a:txBody>
                    <a:bodyPr/>
                    <a:lstStyle/>
                    <a:p>
                      <a:pPr algn="ctr"/>
                      <a:r>
                        <a:rPr lang="en-IN" sz="2200" dirty="0" err="1">
                          <a:latin typeface="Times New Roman" panose="02020603050405020304" pitchFamily="18" charset="0"/>
                          <a:cs typeface="Times New Roman" panose="02020603050405020304" pitchFamily="18" charset="0"/>
                        </a:rPr>
                        <a:t>S.No</a:t>
                      </a:r>
                      <a:r>
                        <a:rPr lang="en-IN"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Author’s name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Title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Methods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Merits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Demerits</a:t>
                      </a:r>
                      <a:r>
                        <a:rPr lang="en-IN" sz="2200" baseline="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220424">
                <a:tc>
                  <a:txBody>
                    <a:bodyPr/>
                    <a:lstStyle/>
                    <a:p>
                      <a:pPr algn="l"/>
                      <a:r>
                        <a:rPr sz="1000" b="1">
                          <a:latin typeface="Times New Roman"/>
                        </a:rPr>
                        <a:t>7.</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C. Trattner &amp; D. Elsweiler (2017)</a:t>
                      </a:r>
                      <a:endParaRPr lang="en-GB"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Food Recommender Systems: Important Contributions, Challenges and Future Research Directions</a:t>
                      </a:r>
                      <a:endParaRPr lang="en-GB"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State-of-the-art review of food recommender systems, covering seminal and recent approaches plus group-based and health-aware specialisations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Explains why food choice is complex, multi-faceted and context dependent; sets out the field's open challenges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Review only, with no implementation or evaluation; inventory-aware recommendation is not addressed</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2256887">
                <a:tc>
                  <a:txBody>
                    <a:bodyPr/>
                    <a:lstStyle/>
                    <a:p>
                      <a:pPr algn="l"/>
                      <a:r>
                        <a:rPr sz="1000" b="1">
                          <a:latin typeface="Times New Roman"/>
                        </a:rPr>
                        <a:t>8.</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D. Elsweiler, C. Trattner &amp; M. Harvey (2017)</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Exploiting Food Choice Biases for Healthier Recipe Recommendation</a:t>
                      </a:r>
                      <a:endParaRPr lang="en-IN" sz="1800" b="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Analysis of food-choice biases on a recipe portal; substitutes recommended meals with similar but healthier dishes; user study on how images affect choice</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Demonstrates recommendations can nudge users toward healthier recipes without sacrificing appeal</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Uses recipe-portal data only; ignores what a user physically has at home and when it expires</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
        <p:nvSpPr>
          <p:cNvPr id="5" name="Slide Number Placeholder 4"/>
          <p:cNvSpPr>
            <a:spLocks noGrp="1"/>
          </p:cNvSpPr>
          <p:nvPr>
            <p:ph type="sldNum" sz="quarter" idx="12"/>
          </p:nvPr>
        </p:nvSpPr>
        <p:spPr/>
        <p:txBody>
          <a:bodyPr/>
          <a:lstStyle/>
          <a:p>
            <a:fld id="{B6D3A235-9A1B-814A-A45F-231E09344964}" type="slidenum">
              <a:rPr lang="en-US" smtClean="0"/>
              <a:t>7</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486"/>
            <a:ext cx="10515600" cy="61378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Review </a:t>
            </a:r>
            <a:endParaRPr lang="en-IN" b="1"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88142413"/>
              </p:ext>
            </p:extLst>
          </p:nvPr>
        </p:nvGraphicFramePr>
        <p:xfrm>
          <a:off x="314354" y="984344"/>
          <a:ext cx="11559939" cy="5240933"/>
        </p:xfrm>
        <a:graphic>
          <a:graphicData uri="http://schemas.openxmlformats.org/drawingml/2006/table">
            <a:tbl>
              <a:tblPr firstRow="1" bandRow="1">
                <a:tableStyleId>{5C22544A-7EE6-4342-B048-85BDC9FD1C3A}</a:tableStyleId>
              </a:tblPr>
              <a:tblGrid>
                <a:gridCol w="591081">
                  <a:extLst>
                    <a:ext uri="{9D8B030D-6E8A-4147-A177-3AD203B41FA5}">
                      <a16:colId xmlns:a16="http://schemas.microsoft.com/office/drawing/2014/main" val="20000"/>
                    </a:ext>
                  </a:extLst>
                </a:gridCol>
                <a:gridCol w="1990165">
                  <a:extLst>
                    <a:ext uri="{9D8B030D-6E8A-4147-A177-3AD203B41FA5}">
                      <a16:colId xmlns:a16="http://schemas.microsoft.com/office/drawing/2014/main" val="20001"/>
                    </a:ext>
                  </a:extLst>
                </a:gridCol>
                <a:gridCol w="1910080">
                  <a:extLst>
                    <a:ext uri="{9D8B030D-6E8A-4147-A177-3AD203B41FA5}">
                      <a16:colId xmlns:a16="http://schemas.microsoft.com/office/drawing/2014/main" val="20002"/>
                    </a:ext>
                  </a:extLst>
                </a:gridCol>
                <a:gridCol w="2267473">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515140">
                  <a:extLst>
                    <a:ext uri="{9D8B030D-6E8A-4147-A177-3AD203B41FA5}">
                      <a16:colId xmlns:a16="http://schemas.microsoft.com/office/drawing/2014/main" val="20005"/>
                    </a:ext>
                  </a:extLst>
                </a:gridCol>
              </a:tblGrid>
              <a:tr h="763622">
                <a:tc>
                  <a:txBody>
                    <a:bodyPr/>
                    <a:lstStyle/>
                    <a:p>
                      <a:pPr algn="ctr"/>
                      <a:r>
                        <a:rPr lang="en-IN" sz="2200" dirty="0" err="1">
                          <a:latin typeface="Times New Roman" panose="02020603050405020304" pitchFamily="18" charset="0"/>
                          <a:cs typeface="Times New Roman" panose="02020603050405020304" pitchFamily="18" charset="0"/>
                        </a:rPr>
                        <a:t>S.No</a:t>
                      </a:r>
                      <a:r>
                        <a:rPr lang="en-IN"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Author’s name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Title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Methods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Merits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Demerits</a:t>
                      </a:r>
                      <a:r>
                        <a:rPr lang="en-IN" sz="2200" baseline="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220424">
                <a:tc>
                  <a:txBody>
                    <a:bodyPr/>
                    <a:lstStyle/>
                    <a:p>
                      <a:pPr algn="l"/>
                      <a:r>
                        <a:rPr sz="1000" b="1">
                          <a:latin typeface="Times New Roman"/>
                        </a:rPr>
                        <a:t>9.</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C. Castro, E. Chitikova, G. Magnani et al. (2023)</a:t>
                      </a:r>
                      <a:endParaRPr lang="en-GB"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Less Is More: Preventing Household Food Waste through an Integrated Mobile Application</a:t>
                      </a:r>
                      <a:endParaRPr lang="en-GB"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Multilayered Installation Design approach mapping consumer activity across acquisition, storage, consumption and disposal; concept for one integrated app</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Covers the whole waste lifecycle rather than a single stage; recommendations grounded in the empirical literature</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Concept and design only — no working implementation, database schema or quantitative evaluation</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2256887">
                <a:tc>
                  <a:txBody>
                    <a:bodyPr/>
                    <a:lstStyle/>
                    <a:p>
                      <a:pPr algn="l"/>
                      <a:r>
                        <a:rPr sz="1000" b="1">
                          <a:latin typeface="Times New Roman"/>
                        </a:rPr>
                        <a:t>10.</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G. Mastorakis, I. Kopanakis, J. Makridis et al. (2024)</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Managing Household Food Waste with the FoodSaveShare Mobile Application</a:t>
                      </a:r>
                      <a:endParaRPr lang="en-IN" sz="1800" b="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Decision-support mobile app on a client–server architecture for monitoring household food supplies, expiration dates and redistribution of surplus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Targets the documented causes of waste — spoilage, date confusion, overbuying; a deployed working tool, not a concept</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Centred on waste and sharing; no recipe matching from current stock and no advanced SQL/DBMS contribution</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
        <p:nvSpPr>
          <p:cNvPr id="5" name="Slide Number Placeholder 4"/>
          <p:cNvSpPr>
            <a:spLocks noGrp="1"/>
          </p:cNvSpPr>
          <p:nvPr>
            <p:ph type="sldNum" sz="quarter" idx="12"/>
          </p:nvPr>
        </p:nvSpPr>
        <p:spPr/>
        <p:txBody>
          <a:bodyPr/>
          <a:lstStyle/>
          <a:p>
            <a:fld id="{B6D3A235-9A1B-814A-A45F-231E09344964}" type="slidenum">
              <a:rPr lang="en-US" smtClean="0"/>
              <a:t>8</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486"/>
            <a:ext cx="10515600" cy="61378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Review </a:t>
            </a:r>
            <a:endParaRPr lang="en-IN" b="1"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88142413"/>
              </p:ext>
            </p:extLst>
          </p:nvPr>
        </p:nvGraphicFramePr>
        <p:xfrm>
          <a:off x="314354" y="984344"/>
          <a:ext cx="11559939" cy="5240933"/>
        </p:xfrm>
        <a:graphic>
          <a:graphicData uri="http://schemas.openxmlformats.org/drawingml/2006/table">
            <a:tbl>
              <a:tblPr firstRow="1" bandRow="1">
                <a:tableStyleId>{5C22544A-7EE6-4342-B048-85BDC9FD1C3A}</a:tableStyleId>
              </a:tblPr>
              <a:tblGrid>
                <a:gridCol w="591081">
                  <a:extLst>
                    <a:ext uri="{9D8B030D-6E8A-4147-A177-3AD203B41FA5}">
                      <a16:colId xmlns:a16="http://schemas.microsoft.com/office/drawing/2014/main" val="20000"/>
                    </a:ext>
                  </a:extLst>
                </a:gridCol>
                <a:gridCol w="1990165">
                  <a:extLst>
                    <a:ext uri="{9D8B030D-6E8A-4147-A177-3AD203B41FA5}">
                      <a16:colId xmlns:a16="http://schemas.microsoft.com/office/drawing/2014/main" val="20001"/>
                    </a:ext>
                  </a:extLst>
                </a:gridCol>
                <a:gridCol w="1910080">
                  <a:extLst>
                    <a:ext uri="{9D8B030D-6E8A-4147-A177-3AD203B41FA5}">
                      <a16:colId xmlns:a16="http://schemas.microsoft.com/office/drawing/2014/main" val="20002"/>
                    </a:ext>
                  </a:extLst>
                </a:gridCol>
                <a:gridCol w="2267473">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515140">
                  <a:extLst>
                    <a:ext uri="{9D8B030D-6E8A-4147-A177-3AD203B41FA5}">
                      <a16:colId xmlns:a16="http://schemas.microsoft.com/office/drawing/2014/main" val="20005"/>
                    </a:ext>
                  </a:extLst>
                </a:gridCol>
              </a:tblGrid>
              <a:tr h="763622">
                <a:tc>
                  <a:txBody>
                    <a:bodyPr/>
                    <a:lstStyle/>
                    <a:p>
                      <a:pPr algn="ctr"/>
                      <a:r>
                        <a:rPr lang="en-IN" sz="2200" dirty="0" err="1">
                          <a:latin typeface="Times New Roman" panose="02020603050405020304" pitchFamily="18" charset="0"/>
                          <a:cs typeface="Times New Roman" panose="02020603050405020304" pitchFamily="18" charset="0"/>
                        </a:rPr>
                        <a:t>S.No</a:t>
                      </a:r>
                      <a:r>
                        <a:rPr lang="en-IN"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Author’s name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Title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Methods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Merits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Demerits</a:t>
                      </a:r>
                      <a:r>
                        <a:rPr lang="en-IN" sz="2200" baseline="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220424">
                <a:tc>
                  <a:txBody>
                    <a:bodyPr/>
                    <a:lstStyle/>
                    <a:p>
                      <a:pPr algn="l"/>
                      <a:r>
                        <a:rPr sz="1000" b="1">
                          <a:latin typeface="Times New Roman"/>
                        </a:rPr>
                        <a:t>11.</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O. Dospinescu, G. Grigorcea &amp; B. Lefter (2025)</a:t>
                      </a:r>
                      <a:endParaRPr lang="en-GB"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A Mobile Approach to Food Expiration Date Determination Using OCR and On-Cloud Image Classification</a:t>
                      </a:r>
                      <a:endParaRPr lang="en-GB"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Mobile prototype using on-cloud image classification and Firebase ML Kit OCR to read printed expiry dates, with shelf-life inferred from category priors when none is printed</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Low-cost and high-performance; removes manual entry of expiry dates; explicit that estimates are not safety judgements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Prototype stage; inferred shelf life is indicative only; no recipe layer and no multi-user relational schema</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2256887">
                <a:tc>
                  <a:txBody>
                    <a:bodyPr/>
                    <a:lstStyle/>
                    <a:p>
                      <a:pPr algn="l"/>
                      <a:r>
                        <a:rPr sz="1000" b="1">
                          <a:latin typeface="Times New Roman"/>
                        </a:rPr>
                        <a:t>12.</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M. Rodrigues, F. Fidalgo &amp; Â. Oliveira (2023)</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RecipeIS — Recipe Recommendation System Based on Recognition of Food Ingredients</a:t>
                      </a:r>
                      <a:endParaRPr lang="en-IN" sz="1800" b="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Web application recognising an ingredient from a user-supplied image with a ResNet-50 CNN trained over 36 fruit and vegetable classes, then recommending recipes containing it</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96% classification accuracy; directly attacks “what can I cook with what I have?” as a food-waste lever</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Recognises one ingredient at a time from an image; keeps no persistent inventory, quantities or expiry state</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
        <p:nvSpPr>
          <p:cNvPr id="5" name="Slide Number Placeholder 4"/>
          <p:cNvSpPr>
            <a:spLocks noGrp="1"/>
          </p:cNvSpPr>
          <p:nvPr>
            <p:ph type="sldNum" sz="quarter" idx="12"/>
          </p:nvPr>
        </p:nvSpPr>
        <p:spPr/>
        <p:txBody>
          <a:bodyPr/>
          <a:lstStyle/>
          <a:p>
            <a:fld id="{B6D3A235-9A1B-814A-A45F-231E09344964}" type="slidenum">
              <a:rPr lang="en-US" smtClean="0"/>
              <a:t>9</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55575" y="181765"/>
            <a:ext cx="10793777"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Work Flow of Proposed Model</a:t>
            </a:r>
            <a:endParaRPr lang="en-IN" sz="4000" b="1" dirty="0">
              <a:latin typeface="Times New Roman" panose="02020603050405020304" pitchFamily="18" charset="0"/>
              <a:cs typeface="Times New Roman" panose="02020603050405020304" pitchFamily="18" charset="0"/>
            </a:endParaRPr>
          </a:p>
        </p:txBody>
      </p:sp>
      <p:sp>
        <p:nvSpPr>
          <p:cNvPr id="2" name="AutoShape 2" descr="https://ietresearch.onlinelibrary.wiley.com/cms/asset/2940a7b6-e3db-4571-ac31-fa8b0ce109de/ise28821891-fig-0004-m.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3" name="AutoShape 4" descr="https://ietresearch.onlinelibrary.wiley.com/cms/asset/2940a7b6-e3db-4571-ac31-fa8b0ce109de/ise28821891-fig-0004-m.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7" name="AutoShape 6" descr="https://ietresearch.onlinelibrary.wiley.com/cms/asset/2940a7b6-e3db-4571-ac31-fa8b0ce109de/ise28821891-fig-0004-m.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8" name="Slide Number Placeholder 7"/>
          <p:cNvSpPr>
            <a:spLocks noGrp="1"/>
          </p:cNvSpPr>
          <p:nvPr>
            <p:ph type="sldNum" sz="quarter" idx="12"/>
          </p:nvPr>
        </p:nvSpPr>
        <p:spPr/>
        <p:txBody>
          <a:bodyPr/>
          <a:lstStyle/>
          <a:p>
            <a:fld id="{B6D3A235-9A1B-814A-A45F-231E09344964}" type="slidenum">
              <a:rPr lang="en-US" smtClean="0"/>
              <a:t>10</a:t>
            </a:fld>
            <a:endParaRPr lang="en-US"/>
          </a:p>
        </p:txBody>
      </p:sp>
      <p:sp>
        <p:nvSpPr>
          <p:cNvPr id="15" name="Date Placeholder 14"/>
          <p:cNvSpPr>
            <a:spLocks noGrp="1"/>
          </p:cNvSpPr>
          <p:nvPr>
            <p:ph type="dt" sz="half" idx="10"/>
          </p:nvPr>
        </p:nvSpPr>
        <p:spPr/>
        <p:txBody>
          <a:bodyPr/>
          <a:lstStyle/>
          <a:p>
            <a:r>
              <a:rPr lang="en-US"/>
              <a:t>29 July 2026</a:t>
            </a:r>
          </a:p>
        </p:txBody>
      </p:sp>
      <p:sp>
        <p:nvSpPr>
          <p:cNvPr id="6" name="Content Placeholder 5">
            <a:extLst>
              <a:ext uri="{FF2B5EF4-FFF2-40B4-BE49-F238E27FC236}">
                <a16:creationId xmlns:a16="http://schemas.microsoft.com/office/drawing/2014/main" id="{58A201CE-CDB9-324E-2DD4-A609CF3BA911}"/>
              </a:ext>
            </a:extLst>
          </p:cNvPr>
          <p:cNvSpPr>
            <a:spLocks noGrp="1"/>
          </p:cNvSpPr>
          <p:nvPr>
            <p:ph idx="1"/>
          </p:nvPr>
        </p:nvSpPr>
        <p:spPr>
          <a:xfrm>
            <a:off x="155575" y="1022818"/>
            <a:ext cx="10515600" cy="4351338"/>
          </a:xfrm>
        </p:spPr>
        <p:txBody>
          <a:bodyPr wrap="square"/>
          <a:lstStyle/>
          <a:p>
            <a:pPr algn="ctr">
              <a:spcBef>
                <a:spcPts val="0"/>
              </a:spcBef>
              <a:spcAft>
                <a:spcPts val="1200"/>
              </a:spcAft>
            </a:pPr>
            <a:r>
              <a:rPr sz="2000" b="1" i="0" dirty="0">
                <a:latin typeface="Times New Roman"/>
              </a:rPr>
              <a:t>System Architecture &amp; Workflow</a:t>
            </a:r>
          </a:p>
          <a:p>
            <a:pPr algn="l">
              <a:spcBef>
                <a:spcPts val="200"/>
              </a:spcBef>
              <a:spcAft>
                <a:spcPts val="400"/>
              </a:spcAft>
            </a:pPr>
            <a:r>
              <a:rPr sz="1500" b="0" i="0" dirty="0">
                <a:latin typeface="Times New Roman"/>
              </a:rPr>
              <a:t>1. USER REGISTRATION — Users sign up with email, password, and dietary preferences (JSON)</a:t>
            </a:r>
          </a:p>
          <a:p>
            <a:pPr algn="l">
              <a:spcBef>
                <a:spcPts val="200"/>
              </a:spcBef>
              <a:spcAft>
                <a:spcPts val="400"/>
              </a:spcAft>
            </a:pPr>
            <a:r>
              <a:rPr sz="1300" b="0" i="0" dirty="0">
                <a:latin typeface="Times New Roman"/>
              </a:rPr>
              <a:t>     ↓  Stored in 'users' table with UNIQUE email constraint</a:t>
            </a:r>
          </a:p>
          <a:p>
            <a:pPr algn="l">
              <a:spcBef>
                <a:spcPts val="200"/>
              </a:spcBef>
              <a:spcAft>
                <a:spcPts val="400"/>
              </a:spcAft>
            </a:pPr>
            <a:r>
              <a:rPr sz="1500" b="0" i="0" dirty="0">
                <a:latin typeface="Times New Roman"/>
              </a:rPr>
              <a:t>2. INGREDIENT MANAGEMENT — Users add ingredients with quantity, unit, expiry date, location</a:t>
            </a:r>
          </a:p>
          <a:p>
            <a:pPr algn="l">
              <a:spcBef>
                <a:spcPts val="200"/>
              </a:spcBef>
              <a:spcAft>
                <a:spcPts val="400"/>
              </a:spcAft>
            </a:pPr>
            <a:r>
              <a:rPr sz="1300" b="0" i="0" dirty="0">
                <a:latin typeface="Times New Roman"/>
              </a:rPr>
              <a:t>     ↓  Trigger blocks expired ingredients | View tracks expiring items</a:t>
            </a:r>
          </a:p>
          <a:p>
            <a:pPr algn="l">
              <a:spcBef>
                <a:spcPts val="200"/>
              </a:spcBef>
              <a:spcAft>
                <a:spcPts val="400"/>
              </a:spcAft>
            </a:pPr>
            <a:r>
              <a:rPr sz="1500" b="0" i="0" dirty="0">
                <a:latin typeface="Times New Roman"/>
              </a:rPr>
              <a:t>3. RECIPE MATCHING — System matches available ingredients to recipes via JOIN queries</a:t>
            </a:r>
          </a:p>
          <a:p>
            <a:pPr algn="l">
              <a:spcBef>
                <a:spcPts val="200"/>
              </a:spcBef>
              <a:spcAft>
                <a:spcPts val="400"/>
              </a:spcAft>
            </a:pPr>
            <a:r>
              <a:rPr sz="1300" b="0" i="0" dirty="0">
                <a:latin typeface="Times New Roman"/>
              </a:rPr>
              <a:t>     ↓  Junction table (</a:t>
            </a:r>
            <a:r>
              <a:rPr sz="1300" b="0" i="0" dirty="0" err="1">
                <a:latin typeface="Times New Roman"/>
              </a:rPr>
              <a:t>recipe_ingredients</a:t>
            </a:r>
            <a:r>
              <a:rPr sz="1300" b="0" i="0" dirty="0">
                <a:latin typeface="Times New Roman"/>
              </a:rPr>
              <a:t>) enables M:N mapping</a:t>
            </a:r>
          </a:p>
          <a:p>
            <a:pPr algn="l">
              <a:spcBef>
                <a:spcPts val="200"/>
              </a:spcBef>
              <a:spcAft>
                <a:spcPts val="400"/>
              </a:spcAft>
            </a:pPr>
            <a:r>
              <a:rPr sz="1500" b="0" i="0" dirty="0">
                <a:latin typeface="Times New Roman"/>
              </a:rPr>
              <a:t>4. MEAL LOGGING — Users log meals with date and rating (1-5, CHECK constraint)</a:t>
            </a:r>
          </a:p>
          <a:p>
            <a:pPr algn="l">
              <a:spcBef>
                <a:spcPts val="200"/>
              </a:spcBef>
              <a:spcAft>
                <a:spcPts val="400"/>
              </a:spcAft>
            </a:pPr>
            <a:r>
              <a:rPr sz="1300" b="0" i="0" dirty="0">
                <a:latin typeface="Times New Roman"/>
              </a:rPr>
              <a:t>     ↓  Trigger auto-deducts inventory | Default rating trigger sets 3 if NULL</a:t>
            </a:r>
          </a:p>
          <a:p>
            <a:pPr algn="l">
              <a:spcBef>
                <a:spcPts val="200"/>
              </a:spcBef>
              <a:spcAft>
                <a:spcPts val="400"/>
              </a:spcAft>
            </a:pPr>
            <a:r>
              <a:rPr sz="1500" b="0" i="0" dirty="0">
                <a:latin typeface="Times New Roman"/>
              </a:rPr>
              <a:t>5. ANALYTICS &amp; REPORTING — Views provide dashboards: nutrition, meal counts, leaderboards</a:t>
            </a:r>
          </a:p>
          <a:p>
            <a:pPr algn="l">
              <a:spcBef>
                <a:spcPts val="200"/>
              </a:spcBef>
              <a:spcAft>
                <a:spcPts val="400"/>
              </a:spcAft>
            </a:pPr>
            <a:r>
              <a:rPr sz="1300" b="0" i="0" dirty="0">
                <a:latin typeface="Times New Roman"/>
              </a:rPr>
              <a:t>     ↓  Aggregate functions (AVG, COUNT, SUM) power real-time insights</a:t>
            </a:r>
          </a:p>
          <a:p>
            <a:pPr algn="l">
              <a:spcBef>
                <a:spcPts val="200"/>
              </a:spcBef>
              <a:spcAft>
                <a:spcPts val="400"/>
              </a:spcAft>
            </a:pPr>
            <a:r>
              <a:rPr sz="1500" b="0" i="0" dirty="0">
                <a:latin typeface="Times New Roman"/>
              </a:rPr>
              <a:t>6. CONCURRENCY CONTROL — Row-level &amp; table-level locks ensure data consistency</a:t>
            </a:r>
          </a:p>
          <a:p>
            <a:pPr algn="l">
              <a:spcBef>
                <a:spcPts val="200"/>
              </a:spcBef>
              <a:spcAft>
                <a:spcPts val="400"/>
              </a:spcAft>
            </a:pPr>
            <a:r>
              <a:rPr sz="1300" b="0" i="0" dirty="0">
                <a:latin typeface="Times New Roman"/>
              </a:rPr>
              <a:t>     ↓  SELECT ... FOR UPDATE prevents race conditions on shared ingredients</a:t>
            </a:r>
          </a:p>
        </p:txBody>
      </p:sp>
      <p:pic>
        <p:nvPicPr>
          <p:cNvPr id="5" name="Picture 4">
            <a:extLst>
              <a:ext uri="{FF2B5EF4-FFF2-40B4-BE49-F238E27FC236}">
                <a16:creationId xmlns:a16="http://schemas.microsoft.com/office/drawing/2014/main" id="{B0E5D575-7085-9017-F13B-DF0D057C27AD}"/>
              </a:ext>
            </a:extLst>
          </p:cNvPr>
          <p:cNvPicPr>
            <a:picLocks noChangeAspect="1"/>
          </p:cNvPicPr>
          <p:nvPr/>
        </p:nvPicPr>
        <p:blipFill>
          <a:blip r:embed="rId2"/>
          <a:stretch>
            <a:fillRect/>
          </a:stretch>
        </p:blipFill>
        <p:spPr>
          <a:xfrm>
            <a:off x="7122008" y="3399957"/>
            <a:ext cx="4914417" cy="327627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8883" y="47040"/>
            <a:ext cx="10515600" cy="607384"/>
          </a:xfrm>
        </p:spPr>
        <p:txBody>
          <a:bodyPr>
            <a:normAutofit fontScale="90000"/>
          </a:bodyPr>
          <a:lstStyle/>
          <a:p>
            <a:pPr algn="ctr"/>
            <a:r>
              <a:rPr lang="en-IN" sz="4000" b="1" dirty="0">
                <a:latin typeface="Times New Roman" panose="02020603050405020304" pitchFamily="18" charset="0"/>
                <a:cs typeface="Times New Roman" panose="02020603050405020304" pitchFamily="18" charset="0"/>
              </a:rPr>
              <a:t>Proposed work -Explanation </a:t>
            </a:r>
          </a:p>
        </p:txBody>
      </p:sp>
      <p:sp>
        <p:nvSpPr>
          <p:cNvPr id="3" name="Content Placeholder 2"/>
          <p:cNvSpPr>
            <a:spLocks noGrp="1"/>
          </p:cNvSpPr>
          <p:nvPr>
            <p:ph idx="1"/>
          </p:nvPr>
        </p:nvSpPr>
        <p:spPr>
          <a:xfrm>
            <a:off x="629695" y="654424"/>
            <a:ext cx="10929257" cy="6067051"/>
          </a:xfrm>
        </p:spPr>
        <p:txBody>
          <a:bodyPr wrap="square">
            <a:noAutofit/>
          </a:bodyPr>
          <a:lstStyle/>
          <a:p>
            <a:pPr algn="just">
              <a:spcBef>
                <a:spcPts val="0"/>
              </a:spcBef>
              <a:spcAft>
                <a:spcPts val="600"/>
              </a:spcAft>
            </a:pPr>
            <a:r>
              <a:rPr sz="1800" b="1" i="0">
                <a:latin typeface="Times New Roman"/>
              </a:rPr>
              <a:t>Database Schema (5 Tables, 12+ Constraints)</a:t>
            </a:r>
          </a:p>
          <a:p>
            <a:pPr algn="l">
              <a:spcBef>
                <a:spcPts val="200"/>
              </a:spcBef>
              <a:spcAft>
                <a:spcPts val="400"/>
              </a:spcAft>
            </a:pPr>
            <a:r>
              <a:rPr sz="1400" b="0" i="0">
                <a:latin typeface="Times New Roman"/>
              </a:rPr>
              <a:t>• users — user_id (PK), email (UNIQUE NOT NULL), password_hash, name, dietary_preferences (JSON), created_at</a:t>
            </a:r>
          </a:p>
          <a:p>
            <a:pPr algn="l">
              <a:spcBef>
                <a:spcPts val="200"/>
              </a:spcBef>
              <a:spcAft>
                <a:spcPts val="400"/>
              </a:spcAft>
            </a:pPr>
            <a:r>
              <a:rPr sz="1400" b="0" i="0">
                <a:latin typeface="Times New Roman"/>
              </a:rPr>
              <a:t>• ingredients — ingredient_id (PK), user_id (FK CASCADE), name, quantity, unit, expiration_date, location, calories_per_unit</a:t>
            </a:r>
          </a:p>
          <a:p>
            <a:pPr algn="l">
              <a:spcBef>
                <a:spcPts val="200"/>
              </a:spcBef>
              <a:spcAft>
                <a:spcPts val="400"/>
              </a:spcAft>
            </a:pPr>
            <a:r>
              <a:rPr sz="1400" b="0" i="0">
                <a:latin typeface="Times New Roman"/>
              </a:rPr>
              <a:t>• recipes — recipe_id (PK), name, instructions (TEXT), prep_time, nutritional_info (JSON), difficulty_level</a:t>
            </a:r>
          </a:p>
          <a:p>
            <a:pPr algn="l">
              <a:spcBef>
                <a:spcPts val="200"/>
              </a:spcBef>
              <a:spcAft>
                <a:spcPts val="400"/>
              </a:spcAft>
            </a:pPr>
            <a:r>
              <a:rPr sz="1400" b="0" i="0">
                <a:latin typeface="Times New Roman"/>
              </a:rPr>
              <a:t>• recipe_ingredients — Composite PK (recipe_id, ingredient_name), FK CASCADE</a:t>
            </a:r>
          </a:p>
          <a:p>
            <a:pPr algn="l">
              <a:spcBef>
                <a:spcPts val="200"/>
              </a:spcBef>
              <a:spcAft>
                <a:spcPts val="400"/>
              </a:spcAft>
            </a:pPr>
            <a:r>
              <a:rPr sz="1400" b="0" i="0">
                <a:latin typeface="Times New Roman"/>
              </a:rPr>
              <a:t>• meal_logs — log_id (PK), user_id (FK), recipe_id (FK SET NULL), consumed_date, rating (CHECK 1-5)</a:t>
            </a:r>
          </a:p>
          <a:p>
            <a:pPr algn="just">
              <a:spcBef>
                <a:spcPts val="1000"/>
              </a:spcBef>
              <a:spcAft>
                <a:spcPts val="600"/>
              </a:spcAft>
            </a:pPr>
            <a:r>
              <a:rPr sz="1800" b="1" i="0">
                <a:latin typeface="Times New Roman"/>
              </a:rPr>
              <a:t>Advanced SQL Features Implemented</a:t>
            </a:r>
          </a:p>
          <a:p>
            <a:pPr algn="l">
              <a:spcBef>
                <a:spcPts val="200"/>
              </a:spcBef>
              <a:spcAft>
                <a:spcPts val="400"/>
              </a:spcAft>
            </a:pPr>
            <a:r>
              <a:rPr sz="1400" b="0" i="0">
                <a:latin typeface="Times New Roman"/>
              </a:rPr>
              <a:t>• Constraints: PRIMARY KEY, FOREIGN KEY (CASCADE, SET NULL), UNIQUE, NOT NULL, CHECK</a:t>
            </a:r>
          </a:p>
          <a:p>
            <a:pPr algn="l">
              <a:spcBef>
                <a:spcPts val="200"/>
              </a:spcBef>
              <a:spcAft>
                <a:spcPts val="400"/>
              </a:spcAft>
            </a:pPr>
            <a:r>
              <a:rPr sz="1400" b="0" i="0">
                <a:latin typeface="Times New Roman"/>
              </a:rPr>
              <a:t>• Aggregates: COUNT, SUM, AVG, MIN, MAX with GROUP BY and HAVING (7 queries)</a:t>
            </a:r>
          </a:p>
          <a:p>
            <a:pPr algn="l">
              <a:spcBef>
                <a:spcPts val="200"/>
              </a:spcBef>
              <a:spcAft>
                <a:spcPts val="400"/>
              </a:spcAft>
            </a:pPr>
            <a:r>
              <a:rPr sz="1400" b="0" i="0">
                <a:latin typeface="Times New Roman"/>
              </a:rPr>
              <a:t>• Set Operations: UNION, UNION ALL, INTERSECT (via JOIN), EXCEPT (via LEFT JOIN + IS NULL)</a:t>
            </a:r>
          </a:p>
          <a:p>
            <a:pPr algn="l">
              <a:spcBef>
                <a:spcPts val="200"/>
              </a:spcBef>
              <a:spcAft>
                <a:spcPts val="400"/>
              </a:spcAft>
            </a:pPr>
            <a:r>
              <a:rPr sz="1400" b="0" i="0">
                <a:latin typeface="Times New Roman"/>
              </a:rPr>
              <a:t>• Subqueries: Scalar, row, table subqueries — correlated and non-correlated (6 queries)</a:t>
            </a:r>
          </a:p>
          <a:p>
            <a:pPr algn="l">
              <a:spcBef>
                <a:spcPts val="200"/>
              </a:spcBef>
              <a:spcAft>
                <a:spcPts val="400"/>
              </a:spcAft>
            </a:pPr>
            <a:r>
              <a:rPr sz="1400" b="0" i="0">
                <a:latin typeface="Times New Roman"/>
              </a:rPr>
              <a:t>• Joins: INNER, LEFT, CROSS, SELF JOIN across 6 scenarios</a:t>
            </a:r>
          </a:p>
          <a:p>
            <a:pPr algn="l">
              <a:spcBef>
                <a:spcPts val="200"/>
              </a:spcBef>
              <a:spcAft>
                <a:spcPts val="400"/>
              </a:spcAft>
            </a:pPr>
            <a:r>
              <a:rPr sz="1400" b="0" i="0">
                <a:latin typeface="Times New Roman"/>
              </a:rPr>
              <a:t>• Views: 4 views — recipe_details, expiring_ingredients, user_meal_count, user_nutrition</a:t>
            </a:r>
          </a:p>
          <a:p>
            <a:pPr algn="l">
              <a:spcBef>
                <a:spcPts val="200"/>
              </a:spcBef>
              <a:spcAft>
                <a:spcPts val="400"/>
              </a:spcAft>
            </a:pPr>
            <a:r>
              <a:rPr sz="1400" b="0" i="0">
                <a:latin typeface="Times New Roman"/>
              </a:rPr>
              <a:t>• Triggers: 3 BEFORE/AFTER — default rating, inventory deduction, expiry validation</a:t>
            </a:r>
          </a:p>
          <a:p>
            <a:pPr algn="l">
              <a:spcBef>
                <a:spcPts val="200"/>
              </a:spcBef>
              <a:spcAft>
                <a:spcPts val="400"/>
              </a:spcAft>
            </a:pPr>
            <a:r>
              <a:rPr sz="1400" b="0" i="0">
                <a:latin typeface="Times New Roman"/>
              </a:rPr>
              <a:t>• Cursors: 3 stored procedures — get_ingredients, count_ingredients, low_stock</a:t>
            </a:r>
          </a:p>
          <a:p>
            <a:pPr algn="l">
              <a:spcBef>
                <a:spcPts val="200"/>
              </a:spcBef>
              <a:spcAft>
                <a:spcPts val="400"/>
              </a:spcAft>
            </a:pPr>
            <a:r>
              <a:rPr sz="1400" b="0" i="0">
                <a:latin typeface="Times New Roman"/>
              </a:rPr>
              <a:t>• Transactions: 5 blocks with SAVEPOINT, ROLLBACK, COMMIT (ACID properties)</a:t>
            </a:r>
          </a:p>
          <a:p>
            <a:pPr algn="l">
              <a:spcBef>
                <a:spcPts val="200"/>
              </a:spcBef>
              <a:spcAft>
                <a:spcPts val="400"/>
              </a:spcAft>
            </a:pPr>
            <a:r>
              <a:rPr sz="1400" b="0" i="0">
                <a:latin typeface="Times New Roman"/>
              </a:rPr>
              <a:t>• Concurrency: Row-level locks (SELECT ... FOR UPDATE) and table-level locks</a:t>
            </a:r>
          </a:p>
        </p:txBody>
      </p:sp>
      <p:sp>
        <p:nvSpPr>
          <p:cNvPr id="7" name="Slide Number Placeholder 6"/>
          <p:cNvSpPr>
            <a:spLocks noGrp="1"/>
          </p:cNvSpPr>
          <p:nvPr>
            <p:ph type="sldNum" sz="quarter" idx="12"/>
          </p:nvPr>
        </p:nvSpPr>
        <p:spPr/>
        <p:txBody>
          <a:bodyPr/>
          <a:lstStyle/>
          <a:p>
            <a:fld id="{B6D3A235-9A1B-814A-A45F-231E09344964}" type="slidenum">
              <a:rPr lang="en-US" smtClean="0"/>
              <a:t>11</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4000" b="1" i="0">
                <a:latin typeface="Times New Roman"/>
              </a:rPr>
              <a:t>Results &amp; Full-Stack Implementation</a:t>
            </a:r>
          </a:p>
        </p:txBody>
      </p:sp>
      <p:sp>
        <p:nvSpPr>
          <p:cNvPr id="3" name="Content Placeholder 2"/>
          <p:cNvSpPr>
            <a:spLocks noGrp="1"/>
          </p:cNvSpPr>
          <p:nvPr>
            <p:ph idx="1"/>
          </p:nvPr>
        </p:nvSpPr>
        <p:spPr>
          <a:xfrm>
            <a:off x="838200" y="1825625"/>
            <a:ext cx="10663518" cy="4351338"/>
          </a:xfrm>
        </p:spPr>
        <p:txBody>
          <a:bodyPr wrap="square">
            <a:normAutofit/>
          </a:bodyPr>
          <a:lstStyle/>
          <a:p>
            <a:pPr algn="just">
              <a:spcBef>
                <a:spcPts val="0"/>
              </a:spcBef>
              <a:spcAft>
                <a:spcPts val="600"/>
              </a:spcAft>
            </a:pPr>
            <a:r>
              <a:rPr sz="1800" b="1" i="0">
                <a:latin typeface="Times New Roman"/>
              </a:rPr>
              <a:t>Dataset Overview</a:t>
            </a:r>
          </a:p>
          <a:p>
            <a:pPr algn="l">
              <a:spcBef>
                <a:spcPts val="200"/>
              </a:spcBef>
              <a:spcAft>
                <a:spcPts val="400"/>
              </a:spcAft>
            </a:pPr>
            <a:r>
              <a:rPr sz="1500" b="0" i="0">
                <a:latin typeface="Times New Roman"/>
              </a:rPr>
              <a:t>• 22 users with JSON dietary preferences (vegan, gluten-free, allergies)</a:t>
            </a:r>
          </a:p>
          <a:p>
            <a:pPr algn="l">
              <a:spcBef>
                <a:spcPts val="200"/>
              </a:spcBef>
              <a:spcAft>
                <a:spcPts val="400"/>
              </a:spcAft>
            </a:pPr>
            <a:r>
              <a:rPr sz="1500" b="0" i="0">
                <a:latin typeface="Times New Roman"/>
              </a:rPr>
              <a:t>• 30 ingredients across 3 storage locations (refrigerator, pantry, freezer)</a:t>
            </a:r>
          </a:p>
          <a:p>
            <a:pPr algn="l">
              <a:spcBef>
                <a:spcPts val="200"/>
              </a:spcBef>
              <a:spcAft>
                <a:spcPts val="400"/>
              </a:spcAft>
            </a:pPr>
            <a:r>
              <a:rPr sz="1500" b="0" i="0">
                <a:latin typeface="Times New Roman"/>
              </a:rPr>
              <a:t>• 22 recipes ranging from Easy to Hard difficulty (5–45 min prep time)</a:t>
            </a:r>
          </a:p>
          <a:p>
            <a:pPr algn="l">
              <a:spcBef>
                <a:spcPts val="200"/>
              </a:spcBef>
              <a:spcAft>
                <a:spcPts val="400"/>
              </a:spcAft>
            </a:pPr>
            <a:r>
              <a:rPr sz="1500" b="0" i="0">
                <a:latin typeface="Times New Roman"/>
              </a:rPr>
              <a:t>• 55 meal log entries with ratings from 1–5 across multiple users</a:t>
            </a:r>
          </a:p>
          <a:p>
            <a:pPr algn="just">
              <a:spcBef>
                <a:spcPts val="1000"/>
              </a:spcBef>
              <a:spcAft>
                <a:spcPts val="600"/>
              </a:spcAft>
            </a:pPr>
            <a:r>
              <a:rPr sz="1800" b="1" i="0">
                <a:latin typeface="Times New Roman"/>
              </a:rPr>
              <a:t>Full-Stack Web Application</a:t>
            </a:r>
          </a:p>
          <a:p>
            <a:pPr algn="l">
              <a:spcBef>
                <a:spcPts val="200"/>
              </a:spcBef>
              <a:spcAft>
                <a:spcPts val="400"/>
              </a:spcAft>
            </a:pPr>
            <a:r>
              <a:rPr sz="1500" b="0" i="0">
                <a:latin typeface="Times New Roman"/>
              </a:rPr>
              <a:t>• Frontend: React 18 + TypeScript + Vite — 8 pages (Dashboard, Ingredients, Recipes, Meal Logs, Shopping List, Auth)</a:t>
            </a:r>
          </a:p>
          <a:p>
            <a:pPr algn="l">
              <a:spcBef>
                <a:spcPts val="200"/>
              </a:spcBef>
              <a:spcAft>
                <a:spcPts val="400"/>
              </a:spcAft>
            </a:pPr>
            <a:r>
              <a:rPr sz="1500" b="0" i="0">
                <a:latin typeface="Times New Roman"/>
              </a:rPr>
              <a:t>• Backend: Supabase (PostgreSQL) with Row-Level Security — Express.js REST API kept as prototype</a:t>
            </a:r>
          </a:p>
          <a:p>
            <a:pPr algn="l">
              <a:spcBef>
                <a:spcPts val="200"/>
              </a:spcBef>
              <a:spcAft>
                <a:spcPts val="400"/>
              </a:spcAft>
            </a:pPr>
            <a:r>
              <a:rPr sz="1500" b="0" i="0">
                <a:latin typeface="Times New Roman"/>
              </a:rPr>
              <a:t>• Database: Supabase (cloud PostgreSQL) + MySQL 8.0 (local dev)</a:t>
            </a:r>
          </a:p>
          <a:p>
            <a:pPr algn="l">
              <a:spcBef>
                <a:spcPts val="200"/>
              </a:spcBef>
              <a:spcAft>
                <a:spcPts val="400"/>
              </a:spcAft>
            </a:pPr>
            <a:r>
              <a:rPr sz="1500" b="0" i="0">
                <a:latin typeface="Times New Roman"/>
              </a:rPr>
              <a:t>• UI Components: shadcn/ui + Tailwind CSS + Framer Motion animations</a:t>
            </a:r>
          </a:p>
          <a:p>
            <a:pPr algn="just">
              <a:spcBef>
                <a:spcPts val="1000"/>
              </a:spcBef>
              <a:spcAft>
                <a:spcPts val="600"/>
              </a:spcAft>
            </a:pPr>
            <a:r>
              <a:rPr sz="1800" b="1" i="0">
                <a:latin typeface="Times New Roman"/>
              </a:rPr>
              <a:t>Key Application Features</a:t>
            </a:r>
          </a:p>
          <a:p>
            <a:pPr algn="l">
              <a:spcBef>
                <a:spcPts val="200"/>
              </a:spcBef>
              <a:spcAft>
                <a:spcPts val="400"/>
              </a:spcAft>
            </a:pPr>
            <a:r>
              <a:rPr sz="1500" b="0" i="0">
                <a:latin typeface="Times New Roman"/>
              </a:rPr>
              <a:t>• Smart Inventory: Track ingredients with real-time expiry alerts</a:t>
            </a:r>
          </a:p>
          <a:p>
            <a:pPr algn="l">
              <a:spcBef>
                <a:spcPts val="200"/>
              </a:spcBef>
              <a:spcAft>
                <a:spcPts val="400"/>
              </a:spcAft>
            </a:pPr>
            <a:r>
              <a:rPr sz="1500" b="0" i="0">
                <a:latin typeface="Times New Roman"/>
              </a:rPr>
              <a:t>• Recipe Matching: Discover recipes based on available kitchen ingredients</a:t>
            </a:r>
          </a:p>
          <a:p>
            <a:pPr algn="l">
              <a:spcBef>
                <a:spcPts val="200"/>
              </a:spcBef>
              <a:spcAft>
                <a:spcPts val="400"/>
              </a:spcAft>
            </a:pPr>
            <a:r>
              <a:rPr sz="1500" b="0" i="0">
                <a:latin typeface="Times New Roman"/>
              </a:rPr>
              <a:t>• Meal Tracking: Log meals with date and 1-5 star ratings</a:t>
            </a:r>
          </a:p>
          <a:p>
            <a:pPr algn="l">
              <a:spcBef>
                <a:spcPts val="200"/>
              </a:spcBef>
              <a:spcAft>
                <a:spcPts val="400"/>
              </a:spcAft>
            </a:pPr>
            <a:r>
              <a:rPr sz="1500" b="0" i="0">
                <a:latin typeface="Times New Roman"/>
              </a:rPr>
              <a:t>• Nutritional Dashboard: Per-user calorie tracking with aggregate analytics</a:t>
            </a:r>
          </a:p>
        </p:txBody>
      </p:sp>
      <p:sp>
        <p:nvSpPr>
          <p:cNvPr id="5" name="Slide Number Placeholder 4"/>
          <p:cNvSpPr>
            <a:spLocks noGrp="1"/>
          </p:cNvSpPr>
          <p:nvPr>
            <p:ph type="sldNum" sz="quarter" idx="12"/>
          </p:nvPr>
        </p:nvSpPr>
        <p:spPr/>
        <p:txBody>
          <a:bodyPr/>
          <a:lstStyle/>
          <a:p>
            <a:fld id="{B6D3A235-9A1B-814A-A45F-231E09344964}" type="slidenum">
              <a:rPr lang="en-US" smtClean="0"/>
              <a:t>12</a:t>
            </a:fld>
            <a:endParaRPr lang="en-US"/>
          </a:p>
        </p:txBody>
      </p:sp>
      <p:sp>
        <p:nvSpPr>
          <p:cNvPr id="9" name="Date Placeholder 8"/>
          <p:cNvSpPr>
            <a:spLocks noGrp="1"/>
          </p:cNvSpPr>
          <p:nvPr>
            <p:ph type="dt" sz="half" idx="10"/>
          </p:nvPr>
        </p:nvSpPr>
        <p:spPr/>
        <p:txBody>
          <a:bodyPr/>
          <a:lstStyle/>
          <a:p>
            <a:r>
              <a:rPr lang="en-US"/>
              <a:t>29 July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4000" b="1" i="0">
                <a:latin typeface="Times New Roman"/>
              </a:rPr>
              <a:t>Conclusion</a:t>
            </a:r>
          </a:p>
        </p:txBody>
      </p:sp>
      <p:sp>
        <p:nvSpPr>
          <p:cNvPr id="3" name="Content Placeholder 2"/>
          <p:cNvSpPr>
            <a:spLocks noGrp="1"/>
          </p:cNvSpPr>
          <p:nvPr>
            <p:ph idx="1"/>
          </p:nvPr>
        </p:nvSpPr>
        <p:spPr>
          <a:xfrm>
            <a:off x="838200" y="1825625"/>
            <a:ext cx="10663518" cy="4351338"/>
          </a:xfrm>
        </p:spPr>
        <p:txBody>
          <a:bodyPr wrap="square">
            <a:normAutofit/>
          </a:bodyPr>
          <a:lstStyle/>
          <a:p>
            <a:pPr algn="just">
              <a:spcBef>
                <a:spcPts val="0"/>
              </a:spcBef>
              <a:spcAft>
                <a:spcPts val="600"/>
              </a:spcAft>
            </a:pPr>
            <a:r>
              <a:rPr sz="1800" b="1">
                <a:latin typeface="Times New Roman"/>
              </a:rPr>
              <a:t>Summary of Work</a:t>
            </a:r>
          </a:p>
          <a:p>
            <a:r>
              <a:rPr sz="1500" b="0">
                <a:latin typeface="Times New Roman"/>
              </a:rPr>
              <a:t>• Designed a normalized 5-table schema with 12+ constraints (PK, FK with CASCADE / SET NULL, UNIQUE, NOT NULL, CHECK) enforcing referential integrity</a:t>
            </a:r>
          </a:p>
          <a:p>
            <a:r>
              <a:rPr sz="1500" b="0">
                <a:latin typeface="Times New Roman"/>
              </a:rPr>
              <a:t>• Implemented every concept required by 21CSC205P: aggregates with GROUP BY / HAVING, set operations, subqueries, and INNER / LEFT / CROSS / SELF joins</a:t>
            </a:r>
          </a:p>
          <a:p>
            <a:r>
              <a:rPr sz="1500" b="0">
                <a:latin typeface="Times New Roman"/>
              </a:rPr>
              <a:t>• Moved business logic into the database — 4 views, 3 triggers and 3 cursor-based procedures</a:t>
            </a:r>
          </a:p>
          <a:p>
            <a:r>
              <a:rPr sz="1500" b="0">
                <a:latin typeface="Times New Roman"/>
              </a:rPr>
              <a:t>• Guaranteed ACID behaviour across 5 transaction blocks (SAVEPOINT, ROLLBACK, COMMIT) with row- and table-level locking</a:t>
            </a:r>
          </a:p>
          <a:p>
            <a:r>
              <a:rPr sz="1800" b="1">
                <a:latin typeface="Times New Roman"/>
              </a:rPr>
              <a:t>Outcome</a:t>
            </a:r>
          </a:p>
          <a:p>
            <a:r>
              <a:rPr sz="1500" b="0">
                <a:latin typeface="Times New Roman"/>
              </a:rPr>
              <a:t>• The same schema was realised in both MySQL 8.0 and Supabase PostgreSQL, showing the design ports across dialects</a:t>
            </a:r>
          </a:p>
          <a:p>
            <a:r>
              <a:rPr sz="1500" b="0">
                <a:latin typeface="Times New Roman"/>
              </a:rPr>
              <a:t>• Expiry and inventory rules live in triggers, so they hold whichever client writes the data</a:t>
            </a:r>
          </a:p>
          <a:p>
            <a:r>
              <a:rPr sz="1800" b="1">
                <a:latin typeface="Times New Roman"/>
              </a:rPr>
              <a:t>Future Scope</a:t>
            </a:r>
          </a:p>
          <a:p>
            <a:r>
              <a:rPr sz="1500" b="0">
                <a:latin typeface="Times New Roman"/>
              </a:rPr>
              <a:t>• Per-user authentication with Row-Level Security for many independent kitchens on one deployment</a:t>
            </a:r>
          </a:p>
          <a:p>
            <a:r>
              <a:rPr sz="1500" b="0">
                <a:latin typeface="Times New Roman"/>
              </a:rPr>
              <a:t>• Nutrition API integration and recipe recommendation trained on meal-log history</a:t>
            </a:r>
          </a:p>
        </p:txBody>
      </p:sp>
      <p:sp>
        <p:nvSpPr>
          <p:cNvPr id="5" name="Slide Number Placeholder 4"/>
          <p:cNvSpPr>
            <a:spLocks noGrp="1"/>
          </p:cNvSpPr>
          <p:nvPr>
            <p:ph type="sldNum" sz="quarter" idx="12"/>
          </p:nvPr>
        </p:nvSpPr>
        <p:spPr/>
        <p:txBody>
          <a:bodyPr/>
          <a:lstStyle/>
          <a:p>
            <a:fld id="{B6D3A235-9A1B-814A-A45F-231E09344964}" type="slidenum">
              <a:rPr lang="en-US" smtClean="0"/>
              <a:t>13</a:t>
            </a:fld>
            <a:endParaRPr lang="en-US"/>
          </a:p>
        </p:txBody>
      </p:sp>
      <p:sp>
        <p:nvSpPr>
          <p:cNvPr id="9" name="Date Placeholder 8"/>
          <p:cNvSpPr>
            <a:spLocks noGrp="1"/>
          </p:cNvSpPr>
          <p:nvPr>
            <p:ph type="dt" sz="half" idx="10"/>
          </p:nvPr>
        </p:nvSpPr>
        <p:spPr/>
        <p:txBody>
          <a:bodyPr/>
          <a:lstStyle/>
          <a:p>
            <a:r>
              <a:rPr lang="en-US"/>
              <a:t>29 July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444" y="324333"/>
            <a:ext cx="10515600" cy="474511"/>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References (1/2)</a:t>
            </a:r>
          </a:p>
        </p:txBody>
      </p:sp>
      <p:sp>
        <p:nvSpPr>
          <p:cNvPr id="3" name="Content Placeholder 2"/>
          <p:cNvSpPr>
            <a:spLocks noGrp="1"/>
          </p:cNvSpPr>
          <p:nvPr>
            <p:ph idx="1"/>
          </p:nvPr>
        </p:nvSpPr>
        <p:spPr>
          <a:xfrm>
            <a:off x="259582" y="1061131"/>
            <a:ext cx="11669484" cy="5198156"/>
          </a:xfrm>
        </p:spPr>
        <p:txBody>
          <a:bodyPr wrap="square">
            <a:noAutofit/>
          </a:bodyPr>
          <a:lstStyle/>
          <a:p>
            <a:pPr algn="l">
              <a:spcBef>
                <a:spcPts val="0"/>
              </a:spcBef>
              <a:spcAft>
                <a:spcPts val="500"/>
              </a:spcAft>
            </a:pPr>
            <a:r>
              <a:rPr sz="1200" b="0">
                <a:latin typeface="Times New Roman"/>
              </a:rPr>
              <a:t>[1] S. Shajith and V. Jaitly, “Building an AI Powered Nutrition Tracking System,” 2025 Int. Conf. on Inventive Computation Technologies (ICICT), IEEE, 2025, pp. 789–794. doi: 10.1109/ICICT64420.2025.11004768</a:t>
            </a:r>
          </a:p>
          <a:p>
            <a:r>
              <a:rPr sz="1200" b="0">
                <a:latin typeface="Times New Roman"/>
              </a:rPr>
              <a:t>[2] T.-L. Chueh, Z.-L. Wang, Y. J. Ngu, P. Lin, E. Owaga and R. Hsieh, “A Mobile-Based Nutrition Tracker App Enhanced Dietitian-Guided 2:1:1 Diet-Induced Weight Loss,” Nutrients, vol. 16, no. 14, art. 2331, 2024. doi: 10.3390/nu16142331</a:t>
            </a:r>
          </a:p>
          <a:p>
            <a:r>
              <a:rPr sz="1200" b="0">
                <a:latin typeface="Times New Roman"/>
              </a:rPr>
              <a:t>[3] A. Jaiswal, A. Solanki, A. Tomar, S. Bhaduria and H. Khatter, “Revolutionizing Diet and Fitness Tracking with AI: A User-Centric Approach to Nutrition and Wellness,” 2025 2nd Int. Conf. on Computational Intelligence, Communication Technology and Networking (CICTN), IEEE, 2025, pp. 493–497. doi: 10.1109/CICTN64563.2025.10932496</a:t>
            </a:r>
          </a:p>
          <a:p>
            <a:r>
              <a:rPr sz="1200" b="0">
                <a:latin typeface="Times New Roman"/>
              </a:rPr>
              <a:t>[4] C. Griffiths, L. Harnack and M. A. Pereira, “Assessment of the Accuracy of Nutrient Calculations of Five Popular Nutrition Tracking Applications,” Public Health Nutrition, vol. 21, no. 8, pp. 1495–1502, 2018. doi: 10.1017/S1368980018000393</a:t>
            </a:r>
          </a:p>
          <a:p>
            <a:r>
              <a:rPr sz="1200" b="0">
                <a:latin typeface="Times New Roman"/>
              </a:rPr>
              <a:t>[5] W. Min, S. Jiang, L. Liu, Y. Rui and R. Jain, “A Survey on Food Computing,” ACM Computing Surveys, vol. 52, no. 5, art. 92, pp. 1–36, 2019. doi: 10.1145/3329168</a:t>
            </a:r>
          </a:p>
          <a:p>
            <a:r>
              <a:rPr sz="1200" b="0">
                <a:latin typeface="Times New Roman"/>
              </a:rPr>
              <a:t>[6] A. Salvador, N. Hynes, Y. Aytar, J. Marin, F. Ofli, I. Weber and A. Torralba, “Learning Cross-Modal Embeddings for Cooking Recipes and Food Images,” Proc. IEEE Conf. on Computer Vision and Pattern Recognition (CVPR), 2017, pp. 3068–3076. doi: 10.1109/CVPR.2017.327</a:t>
            </a:r>
          </a:p>
          <a:p>
            <a:r>
              <a:rPr sz="1200" b="0">
                <a:latin typeface="Times New Roman"/>
              </a:rPr>
              <a:t>[7] C. Trattner and D. Elsweiler, “Food Recommender Systems: Important Contributions, Challenges and Future Research Directions,” arXiv:1711.02760, 2017.</a:t>
            </a:r>
          </a:p>
          <a:p>
            <a:r>
              <a:rPr sz="1200" b="0">
                <a:latin typeface="Times New Roman"/>
              </a:rPr>
              <a:t>[8] D. Elsweiler, C. Trattner and M. Harvey, “Exploiting Food Choice Biases for Healthier Recipe Recommendation,” Proc. 40th Int. ACM SIGIR Conf. on Research and Development in Information Retrieval, 2017, pp. 575–584. doi: 10.1145/3077136.3080826</a:t>
            </a:r>
          </a:p>
          <a:p>
            <a:r>
              <a:rPr sz="1200" b="0">
                <a:latin typeface="Times New Roman"/>
              </a:rPr>
              <a:t>[9] C. Castro, E. Chitikova, G. Magnani, J. Merkle and M. Heitmayer, “Less Is More: Preventing Household Food Waste through an Integrated Mobile Application,” Sustainability, vol. 15, no. 13, art. 10597, 2023. doi: 10.3390/su151310597</a:t>
            </a:r>
          </a:p>
        </p:txBody>
      </p:sp>
      <p:sp>
        <p:nvSpPr>
          <p:cNvPr id="8" name="Slide Number Placeholder 7"/>
          <p:cNvSpPr>
            <a:spLocks noGrp="1"/>
          </p:cNvSpPr>
          <p:nvPr>
            <p:ph type="sldNum" sz="quarter" idx="12"/>
          </p:nvPr>
        </p:nvSpPr>
        <p:spPr/>
        <p:txBody>
          <a:bodyPr/>
          <a:lstStyle/>
          <a:p>
            <a:fld id="{B6D3A235-9A1B-814A-A45F-231E09344964}" type="slidenum">
              <a:rPr lang="en-US" smtClean="0"/>
              <a:t>14</a:t>
            </a:fld>
            <a:endParaRPr lang="en-US"/>
          </a:p>
        </p:txBody>
      </p:sp>
      <p:sp>
        <p:nvSpPr>
          <p:cNvPr id="9" name="Date Placeholder 8"/>
          <p:cNvSpPr>
            <a:spLocks noGrp="1"/>
          </p:cNvSpPr>
          <p:nvPr>
            <p:ph type="dt" sz="half" idx="10"/>
          </p:nvPr>
        </p:nvSpPr>
        <p:spPr/>
        <p:txBody>
          <a:bodyPr/>
          <a:lstStyle/>
          <a:p>
            <a:r>
              <a:rPr lang="en-US"/>
              <a:t>29 July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444" y="324333"/>
            <a:ext cx="10515600" cy="474511"/>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References (2/2)</a:t>
            </a:r>
          </a:p>
        </p:txBody>
      </p:sp>
      <p:sp>
        <p:nvSpPr>
          <p:cNvPr id="3" name="Content Placeholder 2"/>
          <p:cNvSpPr>
            <a:spLocks noGrp="1"/>
          </p:cNvSpPr>
          <p:nvPr>
            <p:ph idx="1"/>
          </p:nvPr>
        </p:nvSpPr>
        <p:spPr>
          <a:xfrm>
            <a:off x="259582" y="1061131"/>
            <a:ext cx="11669484" cy="5198156"/>
          </a:xfrm>
        </p:spPr>
        <p:txBody>
          <a:bodyPr wrap="square">
            <a:noAutofit/>
          </a:bodyPr>
          <a:lstStyle/>
          <a:p>
            <a:pPr algn="l">
              <a:spcBef>
                <a:spcPts val="0"/>
              </a:spcBef>
              <a:spcAft>
                <a:spcPts val="500"/>
              </a:spcAft>
            </a:pPr>
            <a:r>
              <a:rPr sz="1200" b="0">
                <a:latin typeface="Times New Roman"/>
              </a:rPr>
              <a:t>[10] G. Mastorakis, I. Kopanakis, J. Makridis, C. Chroni, K. Synani, K. Lasaridi, K. Abeliotis, I. Louloudakis, I. Daliakopoulos and T. Manios, “Managing Household Food Waste with the FoodSaveShare Mobile Application,” Sustainability, vol. 16, no. 7, art. 2800, 2024. doi: 10.3390/su16072800</a:t>
            </a:r>
          </a:p>
          <a:p>
            <a:r>
              <a:rPr sz="1200" b="0">
                <a:latin typeface="Times New Roman"/>
              </a:rPr>
              <a:t>[11] O. Dospinescu, G. Grigorcea and B. Lefter, “A Mobile Approach to Food Expiration Date Determination Using OCR and On-Cloud Image Classification,” Applied System Innovation, vol. 8, no. 6, art. 176, 2025. doi: 10.3390/asi8060176</a:t>
            </a:r>
          </a:p>
          <a:p>
            <a:r>
              <a:rPr sz="1200" b="0">
                <a:latin typeface="Times New Roman"/>
              </a:rPr>
              <a:t>[12] M. Rodrigues, F. Fidalgo and Â. Oliveira, “RecipeIS — Recipe Recommendation System Based on Recognition of Food Ingredients,” Applied Sciences, vol. 13, no. 13, art. 7880, 2023. doi: 10.3390/app13137880</a:t>
            </a:r>
          </a:p>
          <a:p>
            <a:r>
              <a:rPr sz="1200" b="0">
                <a:latin typeface="Times New Roman"/>
              </a:rPr>
              <a:t>[13] R. Elmasri and S. B. Navathe, Fundamentals of Database Systems, 7th ed. Pearson, 2016.</a:t>
            </a:r>
          </a:p>
          <a:p>
            <a:r>
              <a:rPr sz="1200" b="0">
                <a:latin typeface="Times New Roman"/>
              </a:rPr>
              <a:t>[14] A. Silberschatz, H. F. Korth and S. Sudarshan, Database System Concepts, 7th ed. McGraw-Hill, 2019.</a:t>
            </a:r>
          </a:p>
          <a:p>
            <a:r>
              <a:rPr sz="1200" b="0">
                <a:latin typeface="Times New Roman"/>
              </a:rPr>
              <a:t>[15] MySQL 8.0 Reference Manual, Oracle Corporation. https://dev.mysql.com/doc/refman/8.0/en/</a:t>
            </a:r>
          </a:p>
          <a:p>
            <a:r>
              <a:rPr sz="1200" b="0">
                <a:latin typeface="Times New Roman"/>
              </a:rPr>
              <a:t>[16] Supabase Documentation. https://supabase.com/docs</a:t>
            </a:r>
          </a:p>
          <a:p>
            <a:r>
              <a:rPr sz="1200" b="0">
                <a:latin typeface="Times New Roman"/>
              </a:rPr>
              <a:t>[17] React Documentation, Meta Platforms Inc. https://react.dev/</a:t>
            </a:r>
          </a:p>
        </p:txBody>
      </p:sp>
      <p:sp>
        <p:nvSpPr>
          <p:cNvPr id="8" name="Slide Number Placeholder 7"/>
          <p:cNvSpPr>
            <a:spLocks noGrp="1"/>
          </p:cNvSpPr>
          <p:nvPr>
            <p:ph type="sldNum" sz="quarter" idx="12"/>
          </p:nvPr>
        </p:nvSpPr>
        <p:spPr/>
        <p:txBody>
          <a:bodyPr/>
          <a:lstStyle/>
          <a:p>
            <a:fld id="{B6D3A235-9A1B-814A-A45F-231E09344964}" type="slidenum">
              <a:rPr lang="en-US" smtClean="0"/>
              <a:t>15</a:t>
            </a:fld>
            <a:endParaRPr lang="en-US"/>
          </a:p>
        </p:txBody>
      </p:sp>
      <p:sp>
        <p:nvSpPr>
          <p:cNvPr id="9" name="Date Placeholder 8"/>
          <p:cNvSpPr>
            <a:spLocks noGrp="1"/>
          </p:cNvSpPr>
          <p:nvPr>
            <p:ph type="dt" sz="half" idx="10"/>
          </p:nvPr>
        </p:nvSpPr>
        <p:spPr/>
        <p:txBody>
          <a:bodyPr/>
          <a:lstStyle/>
          <a:p>
            <a:r>
              <a:rPr lang="en-US"/>
              <a:t>29 July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2"/>
          <a:stretch>
            <a:fillRect/>
          </a:stretch>
        </p:blipFill>
        <p:spPr>
          <a:xfrm>
            <a:off x="3017253" y="3248372"/>
            <a:ext cx="6157494" cy="1505843"/>
          </a:xfrm>
          <a:prstGeom prst="rect">
            <a:avLst/>
          </a:prstGeom>
        </p:spPr>
      </p:pic>
      <p:sp>
        <p:nvSpPr>
          <p:cNvPr id="9" name="Slide Number Placeholder 8"/>
          <p:cNvSpPr>
            <a:spLocks noGrp="1"/>
          </p:cNvSpPr>
          <p:nvPr>
            <p:ph type="sldNum" sz="quarter" idx="12"/>
          </p:nvPr>
        </p:nvSpPr>
        <p:spPr/>
        <p:txBody>
          <a:bodyPr/>
          <a:lstStyle/>
          <a:p>
            <a:fld id="{B6D3A235-9A1B-814A-A45F-231E09344964}" type="slidenum">
              <a:rPr lang="en-US" smtClean="0"/>
              <a:t>16</a:t>
            </a:fld>
            <a:endParaRPr lang="en-US"/>
          </a:p>
        </p:txBody>
      </p:sp>
      <p:sp>
        <p:nvSpPr>
          <p:cNvPr id="10" name="Date Placeholder 9"/>
          <p:cNvSpPr>
            <a:spLocks noGrp="1"/>
          </p:cNvSpPr>
          <p:nvPr>
            <p:ph type="dt" sz="half" idx="10"/>
          </p:nvPr>
        </p:nvSpPr>
        <p:spPr/>
        <p:txBody>
          <a:bodyPr/>
          <a:lstStyle/>
          <a:p>
            <a:r>
              <a:rPr lang="en-US"/>
              <a:t>29 July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3275</Words>
  <Application>Microsoft Office PowerPoint</Application>
  <PresentationFormat>Widescreen</PresentationFormat>
  <Paragraphs>253</Paragraphs>
  <Slides>16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WEIGHT COACH APP Database Management System</vt:lpstr>
      <vt:lpstr>Abstract </vt:lpstr>
      <vt:lpstr>Introduction </vt:lpstr>
      <vt:lpstr>PowerPoint Presentation</vt:lpstr>
      <vt:lpstr>Literature Review </vt:lpstr>
      <vt:lpstr>Literature Review </vt:lpstr>
      <vt:lpstr>Literature Review </vt:lpstr>
      <vt:lpstr>Literature Review </vt:lpstr>
      <vt:lpstr>Literature Review </vt:lpstr>
      <vt:lpstr>PowerPoint Presentation</vt:lpstr>
      <vt:lpstr>Proposed work -Explanation </vt:lpstr>
      <vt:lpstr>Results &amp; Full-Stack Implementation</vt:lpstr>
      <vt:lpstr>Conclusion</vt:lpstr>
      <vt:lpstr>References (1/2)</vt:lpstr>
      <vt:lpstr>References (2/2)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proposed work</dc:title>
  <dc:creator>mani iz</dc:creator>
  <cp:lastModifiedBy>Sanchit Jaiswal</cp:lastModifiedBy>
  <cp:revision>301</cp:revision>
  <dcterms:created xsi:type="dcterms:W3CDTF">2022-09-13T08:56:00Z</dcterms:created>
  <dcterms:modified xsi:type="dcterms:W3CDTF">2026-08-14T05:08:15Z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D08F9FAA6B7E4AE58517ED9850002E9F_12</vt:lpwstr>
  </property>
  <property fmtid="{D5CDD505-2E9C-101B-9397-08002B2CF9AE}" pid="3" name="KSOProductBuildVer">
    <vt:lpwstr>1033-12.1.0.27458</vt:lpwstr>
  </property>
</Properties>
</file>