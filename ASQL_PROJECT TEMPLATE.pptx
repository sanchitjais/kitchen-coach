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sldIdLst>
    <p:sldId id="256" r:id="rId2"/>
    <p:sldId id="306" r:id="rId3"/>
    <p:sldId id="293" r:id="rId4"/>
    <p:sldId id="289" r:id="rId5"/>
    <p:sldId id="290" r:id="rId6"/>
    <p:sldId id="266" r:id="rId7"/>
    <p:sldId id="279" r:id="rId8"/>
    <p:sldId id="308" r:id="rId9"/>
    <p:sldId id="283" r:id="rId10"/>
    <p:sldId id="3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5FC79"/>
    <a:srgbClr val="73FE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9"/>
  </p:normalViewPr>
  <p:slideViewPr>
    <p:cSldViewPr snapToGrid="0" snapToObjects="1" showGuides="1">
      <p:cViewPr varScale="1">
        <p:scale>
          <a:sx n="58" d="100"/>
          <a:sy n="58" d="100"/>
        </p:scale>
        <p:origin x="928" y="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3DA0E-D1FD-BC4E-848A-CADAF0C17C7F}"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DB9C3-3AFD-454D-9BAE-9D714207E35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4FDB9C3-3AFD-454D-9BAE-9D714207E35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4FDB9C3-3AFD-454D-9BAE-9D714207E35B}"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en-US"/>
              <a:t>29 July 2026</a:t>
            </a:r>
          </a:p>
        </p:txBody>
      </p:sp>
      <p:sp>
        <p:nvSpPr>
          <p:cNvPr id="8" name="Footer Placeholder 7"/>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9" name="Slide Number Placeholder 8"/>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en-US"/>
              <a:t>29 July 2026</a:t>
            </a:r>
          </a:p>
        </p:txBody>
      </p:sp>
      <p:sp>
        <p:nvSpPr>
          <p:cNvPr id="4" name="Footer Placeholder 3"/>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5" name="Slide Number Placeholder 4"/>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29 July 2026</a:t>
            </a:r>
          </a:p>
        </p:txBody>
      </p:sp>
      <p:sp>
        <p:nvSpPr>
          <p:cNvPr id="3" name="Footer Placeholder 2"/>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4" name="Slide Number Placeholder 3"/>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29 July 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3A235-9A1B-814A-A45F-231E0934496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圖片 9" descr="Logo, company name&#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5438" y="461286"/>
            <a:ext cx="5748242" cy="2967714"/>
          </a:xfrm>
          <a:prstGeom prst="rect">
            <a:avLst/>
          </a:prstGeom>
        </p:spPr>
      </p:pic>
      <p:pic>
        <p:nvPicPr>
          <p:cNvPr id="5" name="Picture 4" descr="Text&#10;&#10;Description automatically generated with low confidence"/>
          <p:cNvPicPr>
            <a:picLocks noChangeAspect="1"/>
          </p:cNvPicPr>
          <p:nvPr/>
        </p:nvPicPr>
        <p:blipFill>
          <a:blip r:embed="rId4" cstate="print"/>
          <a:srcRect l="12259" t="15730" r="39436" b="26966"/>
          <a:stretch>
            <a:fillRect/>
          </a:stretch>
        </p:blipFill>
        <p:spPr>
          <a:xfrm>
            <a:off x="5785719" y="3239411"/>
            <a:ext cx="5127680" cy="2732348"/>
          </a:xfrm>
          <a:prstGeom prst="rect">
            <a:avLst/>
          </a:prstGeom>
        </p:spPr>
      </p:pic>
      <p:sp>
        <p:nvSpPr>
          <p:cNvPr id="2" name="Title 1"/>
          <p:cNvSpPr>
            <a:spLocks noGrp="1"/>
          </p:cNvSpPr>
          <p:nvPr>
            <p:ph type="ctrTitle"/>
          </p:nvPr>
        </p:nvSpPr>
        <p:spPr>
          <a:xfrm>
            <a:off x="336884" y="791807"/>
            <a:ext cx="4279196" cy="1752189"/>
          </a:xfrm>
        </p:spPr>
        <p:txBody>
          <a:bodyPr>
            <a:noAutofit/>
          </a:bodyPr>
          <a:lstStyle/>
          <a:p>
            <a:pPr algn="just">
              <a:spcBef>
                <a:spcPts val="1000"/>
              </a:spcBef>
            </a:pPr>
            <a:r>
              <a:rPr lang="en-GB" sz="2800" b="1" dirty="0" err="1">
                <a:solidFill>
                  <a:srgbClr val="FFFFFF"/>
                </a:solidFill>
                <a:latin typeface="Times New Roman" panose="02020603050405020304" pitchFamily="18" charset="0"/>
                <a:ea typeface="+mn-ea"/>
                <a:cs typeface="Times New Roman" panose="02020603050405020304" pitchFamily="18" charset="0"/>
              </a:rPr>
              <a:t>WEIGHT COACH APP</a:t>
            </a:r>
            <a:endParaRPr lang="en-GB" sz="2800" b="1" dirty="0">
              <a:solidFill>
                <a:srgbClr val="FFFFFF"/>
              </a:solidFill>
              <a:latin typeface="Times New Roman" panose="02020603050405020304" pitchFamily="18" charset="0"/>
              <a:ea typeface="+mn-ea"/>
              <a:cs typeface="Times New Roman" panose="02020603050405020304" pitchFamily="18" charset="0"/>
            </a:endParaRPr>
          </a:p>
          <a:p>
            <a:pPr algn="just"/>
            <a:r>
              <a:rPr sz="2000" b="0" i="0">
                <a:solidFill>
                  <a:srgbClr val="FFFFFF"/>
                </a:solidFill>
                <a:latin typeface="Times New Roman"/>
              </a:rPr>
              <a:t>Database Management System</a:t>
            </a:r>
          </a:p>
        </p:txBody>
      </p:sp>
      <p:sp>
        <p:nvSpPr>
          <p:cNvPr id="3" name="Subtitle 2"/>
          <p:cNvSpPr>
            <a:spLocks noGrp="1"/>
          </p:cNvSpPr>
          <p:nvPr>
            <p:ph type="subTitle" idx="1"/>
          </p:nvPr>
        </p:nvSpPr>
        <p:spPr>
          <a:xfrm>
            <a:off x="255119" y="3014625"/>
            <a:ext cx="4332307" cy="2677964"/>
          </a:xfrm>
        </p:spPr>
        <p:txBody>
          <a:bodyPr>
            <a:noAutofit/>
          </a:bodyPr>
          <a:lstStyle/>
          <a:p>
            <a:r>
              <a:rPr lang="en-US" sz="2200" b="1" dirty="0" i="0">
                <a:solidFill>
                  <a:srgbClr val="FFFFFF"/>
                </a:solidFill>
                <a:latin typeface="Times New Roman" panose="02020603050405020304" pitchFamily="18" charset="0"/>
                <a:cs typeface="Times New Roman" panose="02020603050405020304" pitchFamily="18" charset="0"/>
              </a:rPr>
              <a:t>Sanchit Jaiswal</a:t>
            </a:r>
          </a:p>
          <a:p>
            <a:r>
              <a:rPr lang="en-US" sz="2200" dirty="0" b="0" i="0">
                <a:solidFill>
                  <a:srgbClr val="FFFFFF"/>
                </a:solidFill>
                <a:latin typeface="Times New Roman" panose="02020603050405020304" pitchFamily="18" charset="0"/>
                <a:cs typeface="Times New Roman" panose="02020603050405020304" pitchFamily="18" charset="0"/>
              </a:rPr>
              <a:t>(RA2411003011741)</a:t>
            </a:r>
            <a:r>
              <a:rPr lang="en-GB" sz="2200" dirty="0">
                <a:solidFill>
                  <a:srgbClr val="FFFFFF"/>
                </a:solidFill>
                <a:latin typeface="Times New Roman" panose="02020603050405020304" pitchFamily="18" charset="0"/>
                <a:cs typeface="Times New Roman" panose="02020603050405020304" pitchFamily="18" charset="0"/>
              </a:rPr>
              <a:t/>
            </a:r>
            <a:r>
              <a:rPr lang="en-US" sz="2200" dirty="0">
                <a:solidFill>
                  <a:srgbClr val="FFFFFF"/>
                </a:solidFill>
                <a:latin typeface="Times New Roman" panose="02020603050405020304" pitchFamily="18" charset="0"/>
                <a:cs typeface="Times New Roman" panose="02020603050405020304" pitchFamily="18" charset="0"/>
              </a:rPr>
              <a:t/>
            </a:r>
          </a:p>
          <a:p>
            <a:r>
              <a:rPr lang="en-US" sz="2200" b="1" dirty="0" i="0">
                <a:solidFill>
                  <a:srgbClr val="FFFFFF"/>
                </a:solidFill>
                <a:latin typeface="Times New Roman" panose="02020603050405020304" pitchFamily="18" charset="0"/>
                <a:cs typeface="Times New Roman" panose="02020603050405020304" pitchFamily="18" charset="0"/>
              </a:rPr>
              <a:t>Riya Raj</a:t>
            </a:r>
          </a:p>
          <a:p>
            <a:r>
              <a:rPr lang="en-US" sz="2200" dirty="0" b="0" i="0">
                <a:solidFill>
                  <a:srgbClr val="FFFFFF"/>
                </a:solidFill>
                <a:latin typeface="Times New Roman" panose="02020603050405020304" pitchFamily="18" charset="0"/>
                <a:cs typeface="Times New Roman" panose="02020603050405020304" pitchFamily="18" charset="0"/>
              </a:rPr>
              <a:t>(RA2411003011753)</a:t>
            </a:r>
            <a:r>
              <a:rPr lang="en-US" sz="2200" dirty="0" err="1">
                <a:solidFill>
                  <a:srgbClr val="FFFFFF"/>
                </a:solidFill>
                <a:latin typeface="Times New Roman" panose="02020603050405020304" pitchFamily="18" charset="0"/>
                <a:cs typeface="Times New Roman" panose="02020603050405020304" pitchFamily="18" charset="0"/>
              </a:rPr>
              <a:t/>
            </a:r>
            <a:r>
              <a:rPr lang="en-US" sz="2200" dirty="0">
                <a:solidFill>
                  <a:srgbClr val="FFFFFF"/>
                </a:solidFill>
                <a:latin typeface="Times New Roman" panose="02020603050405020304" pitchFamily="18" charset="0"/>
                <a:cs typeface="Times New Roman" panose="02020603050405020304" pitchFamily="18" charset="0"/>
              </a:rPr>
              <a:t/>
            </a:r>
          </a:p>
          <a:p>
            <a:r>
              <a:rPr lang="en-US" sz="2200" dirty="0" b="0" i="0">
                <a:solidFill>
                  <a:srgbClr val="FFFFFF"/>
                </a:solidFill>
                <a:latin typeface="Times New Roman" panose="02020603050405020304" pitchFamily="18" charset="0"/>
                <a:cs typeface="Times New Roman" panose="02020603050405020304" pitchFamily="18" charset="0"/>
              </a:rPr>
              <a:t>Department: CTECH</a:t>
            </a:r>
          </a:p>
          <a:p>
            <a:endParaRPr lang="en-US" sz="2000" dirty="0">
              <a:solidFill>
                <a:srgbClr val="FFFFFF"/>
              </a:solidFill>
              <a:latin typeface="Times New Roman" panose="02020603050405020304" pitchFamily="18" charset="0"/>
              <a:cs typeface="Times New Roman" panose="02020603050405020304" pitchFamily="18" charset="0"/>
            </a:endParaRPr>
          </a:p>
          <a:p>
            <a:r>
              <a:rPr lang="en-US" sz="2000" dirty="0" b="0" i="0">
                <a:solidFill>
                  <a:srgbClr val="FFFFFF"/>
                </a:solidFill>
                <a:latin typeface="Times New Roman" panose="02020603050405020304" pitchFamily="18" charset="0"/>
                <a:cs typeface="Times New Roman" panose="02020603050405020304" pitchFamily="18" charset="0"/>
              </a:rPr>
              <a:t>29 JULY 2026</a:t>
            </a:r>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524" y="136525"/>
            <a:ext cx="10515600" cy="644735"/>
          </a:xfrm>
        </p:spPr>
        <p:txBody>
          <a:bodyPr>
            <a:noAutofit/>
          </a:bodyPr>
          <a:lstStyle/>
          <a:p>
            <a:pPr algn="ctr"/>
            <a:r>
              <a:rPr lang="en-US" sz="4000" b="1" dirty="0">
                <a:latin typeface="Times New Roman" panose="02020603050405020304" pitchFamily="18" charset="0"/>
                <a:cs typeface="Times New Roman" panose="02020603050405020304" pitchFamily="18" charset="0"/>
              </a:rPr>
              <a:t>Abstract</a:t>
            </a:r>
            <a:r>
              <a:rPr lang="en-US" sz="4000" b="1" dirty="0"/>
              <a:t> </a:t>
            </a:r>
            <a:endParaRPr lang="en-IN" sz="4000" b="1" dirty="0"/>
          </a:p>
        </p:txBody>
      </p:sp>
      <p:sp>
        <p:nvSpPr>
          <p:cNvPr id="10" name="Content Placeholder 2"/>
          <p:cNvSpPr>
            <a:spLocks noGrp="1"/>
          </p:cNvSpPr>
          <p:nvPr>
            <p:ph idx="1"/>
          </p:nvPr>
        </p:nvSpPr>
        <p:spPr>
          <a:xfrm>
            <a:off x="261257" y="1032086"/>
            <a:ext cx="11658600" cy="5575089"/>
          </a:xfrm>
        </p:spPr>
        <p:txBody>
          <a:bodyPr wrap="square">
            <a:normAutofit/>
          </a:bodyPr>
          <a:lstStyle/>
          <a:p>
            <a:pPr algn="just">
              <a:spcAft>
                <a:spcPts val="800"/>
              </a:spcAft>
            </a:pPr>
            <a:r>
              <a:rPr sz="1800" b="0" i="0">
                <a:latin typeface="Times New Roman"/>
              </a:rPr>
              <a:t>The Weight Coach App is a comprehensive database-driven application designed to help users manage their kitchen inventory, discover recipes based on available ingredients, track daily meal consumption, and monitor nutritional intake — all while reducing food waste. The system is built on a robust MySQL 8.0 relational database that demonstrates advanced SQL concepts covered in the 21CSC205P Database Management Systems course.</a:t>
            </a:r>
          </a:p>
          <a:p>
            <a:pPr algn="just">
              <a:spcBef>
                <a:spcPts val="600"/>
              </a:spcBef>
              <a:spcAft>
                <a:spcPts val="800"/>
              </a:spcAft>
            </a:pPr>
            <a:r>
              <a:rPr sz="1800" b="0" i="0">
                <a:latin typeface="Times New Roman"/>
              </a:rPr>
              <a:t>The database schema comprises five interconnected tables — users, ingredients, recipes, recipe_ingredients (junction table for M:N relationships), and meal_logs — enforcing referential integrity through primary keys, foreign keys, UNIQUE constraints, CHECK constraints, and cascading deletes. The project demonstrates DDL operations for schema creation, DML for data manipulation, aggregate functions (COUNT, SUM, AVG, MIN, MAX) with GROUP BY and HAVING clauses, set operations (UNION, INTERSECT, EXCEPT equivalents), correlated and non-correlated subqueries, and multiple JOIN types (INNER, LEFT, CROSS, SELF).</a:t>
            </a:r>
          </a:p>
          <a:p>
            <a:pPr algn="just">
              <a:spcBef>
                <a:spcPts val="600"/>
              </a:spcBef>
              <a:spcAft>
                <a:spcPts val="800"/>
              </a:spcAft>
            </a:pPr>
            <a:r>
              <a:rPr sz="1800" b="0" i="0">
                <a:latin typeface="Times New Roman"/>
              </a:rPr>
              <a:t>Additionally, the project implements Views for reusable query encapsulation, Triggers for automated business logic enforcement (default ratings, inventory deduction, expiry date validation), Cursors for row-by-row processing in stored procedures, Transactions with SAVEPOINTs and ROLLBACK for ACID-compliant data operations, and Concurrency Control using row-level (SELECT ... FOR UPDATE) and table-level locks. A full-stack web application (React + Express.js + Supabase) provides the user-facing interface.</a:t>
            </a:r>
          </a:p>
        </p:txBody>
      </p:sp>
      <p:sp>
        <p:nvSpPr>
          <p:cNvPr id="5" name="Slide Number Placeholder 4"/>
          <p:cNvSpPr>
            <a:spLocks noGrp="1"/>
          </p:cNvSpPr>
          <p:nvPr>
            <p:ph type="sldNum" sz="quarter" idx="12"/>
          </p:nvPr>
        </p:nvSpPr>
        <p:spPr/>
        <p:txBody>
          <a:bodyPr/>
          <a:lstStyle/>
          <a:p>
            <a:fld id="{B6D3A235-9A1B-814A-A45F-231E09344964}" type="slidenum">
              <a:rPr lang="en-US" smtClean="0"/>
              <a:t>2</a:t>
            </a:fld>
            <a:endParaRPr lang="en-US"/>
          </a:p>
        </p:txBody>
      </p:sp>
      <p:sp>
        <p:nvSpPr>
          <p:cNvPr id="7" name="Date Placeholder 6"/>
          <p:cNvSpPr>
            <a:spLocks noGrp="1"/>
          </p:cNvSpPr>
          <p:nvPr>
            <p:ph type="dt" sz="half" idx="10"/>
          </p:nvPr>
        </p:nvSpPr>
        <p:spPr/>
        <p:txBody>
          <a:bodyPr/>
          <a:lstStyle/>
          <a:p>
            <a:r>
              <a:rPr lang="en-US"/>
              <a:t>29 July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Introduction</a:t>
            </a:r>
            <a:r>
              <a:rPr lang="en-US" dirty="0"/>
              <a:t> </a:t>
            </a:r>
            <a:endParaRPr lang="en-IN" dirty="0"/>
          </a:p>
        </p:txBody>
      </p:sp>
      <p:sp>
        <p:nvSpPr>
          <p:cNvPr id="3" name="Content Placeholder 2"/>
          <p:cNvSpPr>
            <a:spLocks noGrp="1"/>
          </p:cNvSpPr>
          <p:nvPr>
            <p:ph idx="1"/>
          </p:nvPr>
        </p:nvSpPr>
        <p:spPr>
          <a:xfrm>
            <a:off x="217715" y="828169"/>
            <a:ext cx="11713028" cy="5710743"/>
          </a:xfrm>
        </p:spPr>
        <p:txBody>
          <a:bodyPr wrap="square">
            <a:noAutofit/>
          </a:bodyPr>
          <a:lstStyle/>
          <a:p>
            <a:pPr algn="just">
              <a:spcAft>
                <a:spcPts val="600"/>
              </a:spcAft>
            </a:pPr>
            <a:r>
              <a:rPr sz="1700" b="0" i="0">
                <a:latin typeface="Times New Roman"/>
              </a:rPr>
              <a:t>In today's health-conscious world, managing nutrition effectively requires tracking what food is available, what meals are being consumed, and what nutritional value they provide. The Weight Coach App addresses this need by providing a unified platform for ingredient inventory management, recipe discovery, meal logging, and nutritional tracking.</a:t>
            </a:r>
          </a:p>
          <a:p>
            <a:pPr algn="just">
              <a:spcBef>
                <a:spcPts val="800"/>
              </a:spcBef>
              <a:spcAft>
                <a:spcPts val="600"/>
              </a:spcAft>
            </a:pPr>
            <a:r>
              <a:rPr sz="1700" b="1" i="0">
                <a:latin typeface="Times New Roman"/>
              </a:rPr>
              <a:t>Problem Statement:</a:t>
            </a:r>
          </a:p>
          <a:p>
            <a:pPr algn="l">
              <a:spcBef>
                <a:spcPts val="200"/>
              </a:spcBef>
              <a:spcAft>
                <a:spcPts val="400"/>
              </a:spcAft>
            </a:pPr>
            <a:r>
              <a:rPr sz="1600" b="0" i="0">
                <a:latin typeface="Times New Roman"/>
              </a:rPr>
              <a:t>• Users often waste food because they lose track of ingredient expiry dates</a:t>
            </a:r>
          </a:p>
          <a:p>
            <a:pPr algn="l">
              <a:spcBef>
                <a:spcPts val="200"/>
              </a:spcBef>
              <a:spcAft>
                <a:spcPts val="400"/>
              </a:spcAft>
            </a:pPr>
            <a:r>
              <a:rPr sz="1600" b="0" i="0">
                <a:latin typeface="Times New Roman"/>
              </a:rPr>
              <a:t>• Finding recipes that match available ingredients is time-consuming</a:t>
            </a:r>
          </a:p>
          <a:p>
            <a:pPr algn="l">
              <a:spcBef>
                <a:spcPts val="200"/>
              </a:spcBef>
              <a:spcAft>
                <a:spcPts val="400"/>
              </a:spcAft>
            </a:pPr>
            <a:r>
              <a:rPr sz="1600" b="0" i="0">
                <a:latin typeface="Times New Roman"/>
              </a:rPr>
              <a:t>• Manual meal tracking is tedious and inconsistent</a:t>
            </a:r>
          </a:p>
          <a:p>
            <a:pPr algn="l">
              <a:spcBef>
                <a:spcPts val="200"/>
              </a:spcBef>
              <a:spcAft>
                <a:spcPts val="400"/>
              </a:spcAft>
            </a:pPr>
            <a:r>
              <a:rPr sz="1600" b="0" i="0">
                <a:latin typeface="Times New Roman"/>
              </a:rPr>
              <a:t>• Nutritional monitoring requires cross-referencing multiple sources</a:t>
            </a:r>
          </a:p>
          <a:p>
            <a:pPr algn="just">
              <a:spcBef>
                <a:spcPts val="800"/>
              </a:spcBef>
              <a:spcAft>
                <a:spcPts val="600"/>
              </a:spcAft>
            </a:pPr>
            <a:r>
              <a:rPr sz="1700" b="1" i="0">
                <a:latin typeface="Times New Roman"/>
              </a:rPr>
              <a:t>Objectives:</a:t>
            </a:r>
          </a:p>
          <a:p>
            <a:pPr algn="l">
              <a:spcBef>
                <a:spcPts val="200"/>
              </a:spcBef>
              <a:spcAft>
                <a:spcPts val="400"/>
              </a:spcAft>
            </a:pPr>
            <a:r>
              <a:rPr sz="1600" b="0" i="0">
                <a:latin typeface="Times New Roman"/>
              </a:rPr>
              <a:t>• Design a normalized relational database schema with proper constraints</a:t>
            </a:r>
          </a:p>
          <a:p>
            <a:pPr algn="l">
              <a:spcBef>
                <a:spcPts val="200"/>
              </a:spcBef>
              <a:spcAft>
                <a:spcPts val="400"/>
              </a:spcAft>
            </a:pPr>
            <a:r>
              <a:rPr sz="1600" b="0" i="0">
                <a:latin typeface="Times New Roman"/>
              </a:rPr>
              <a:t>• Implement smart recipe recommendations based on available inventory</a:t>
            </a:r>
          </a:p>
          <a:p>
            <a:pPr algn="l">
              <a:spcBef>
                <a:spcPts val="200"/>
              </a:spcBef>
              <a:spcAft>
                <a:spcPts val="400"/>
              </a:spcAft>
            </a:pPr>
            <a:r>
              <a:rPr sz="1600" b="0" i="0">
                <a:latin typeface="Times New Roman"/>
              </a:rPr>
              <a:t>• Automate inventory management using triggers and transactions</a:t>
            </a:r>
          </a:p>
          <a:p>
            <a:pPr algn="l">
              <a:spcBef>
                <a:spcPts val="200"/>
              </a:spcBef>
              <a:spcAft>
                <a:spcPts val="400"/>
              </a:spcAft>
            </a:pPr>
            <a:r>
              <a:rPr sz="1600" b="0" i="0">
                <a:latin typeface="Times New Roman"/>
              </a:rPr>
              <a:t>• Demonstrate advanced SQL concepts: Views, Cursors, Transactions, Concurrency</a:t>
            </a:r>
          </a:p>
          <a:p>
            <a:pPr algn="l">
              <a:spcBef>
                <a:spcPts val="200"/>
              </a:spcBef>
              <a:spcAft>
                <a:spcPts val="400"/>
              </a:spcAft>
            </a:pPr>
            <a:r>
              <a:rPr sz="1600" b="0" i="0">
                <a:latin typeface="Times New Roman"/>
              </a:rPr>
              <a:t>• Build a full-stack web application with React frontend and Express.js backend</a:t>
            </a:r>
          </a:p>
          <a:p>
            <a:pPr algn="just">
              <a:spcBef>
                <a:spcPts val="800"/>
              </a:spcBef>
              <a:spcAft>
                <a:spcPts val="600"/>
              </a:spcAft>
            </a:pPr>
            <a:r>
              <a:rPr sz="1700" b="1" i="0">
                <a:latin typeface="Times New Roman"/>
              </a:rPr>
              <a:t>Technology Stack:</a:t>
            </a:r>
          </a:p>
          <a:p>
            <a:pPr algn="l">
              <a:spcBef>
                <a:spcPts val="200"/>
              </a:spcBef>
              <a:spcAft>
                <a:spcPts val="400"/>
              </a:spcAft>
            </a:pPr>
            <a:r>
              <a:rPr sz="1600" b="0" i="0">
                <a:latin typeface="Times New Roman"/>
              </a:rPr>
              <a:t>• Database: MySQL 8.0  |  Backend: Node.js + Express.js  |  Frontend: React + TypeScript + Vite</a:t>
            </a:r>
          </a:p>
          <a:p>
            <a:pPr algn="l">
              <a:spcBef>
                <a:spcPts val="200"/>
              </a:spcBef>
              <a:spcAft>
                <a:spcPts val="400"/>
              </a:spcAft>
            </a:pPr>
            <a:r>
              <a:rPr sz="1600" b="0" i="0">
                <a:latin typeface="Times New Roman"/>
              </a:rPr>
              <a:t>• Cloud Database: Supabase (PostgreSQL)  |  Styling: Tailwind CSS + shadcn/ui</a:t>
            </a:r>
          </a:p>
        </p:txBody>
      </p:sp>
      <p:sp>
        <p:nvSpPr>
          <p:cNvPr id="7" name="Slide Number Placeholder 6"/>
          <p:cNvSpPr>
            <a:spLocks noGrp="1"/>
          </p:cNvSpPr>
          <p:nvPr>
            <p:ph type="sldNum" sz="quarter" idx="12"/>
          </p:nvPr>
        </p:nvSpPr>
        <p:spPr/>
        <p:txBody>
          <a:bodyPr/>
          <a:lstStyle/>
          <a:p>
            <a:fld id="{B6D3A235-9A1B-814A-A45F-231E09344964}" type="slidenum">
              <a:rPr lang="en-US" smtClean="0"/>
              <a:t>3</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543611625"/>
              </p:ext>
            </p:extLst>
          </p:nvPr>
        </p:nvGraphicFramePr>
        <p:xfrm>
          <a:off x="314354" y="1495405"/>
          <a:ext cx="11559939" cy="5157510"/>
        </p:xfrm>
        <a:graphic>
          <a:graphicData uri="http://schemas.openxmlformats.org/drawingml/2006/table">
            <a:tbl>
              <a:tblPr firstRow="1" bandRow="1">
                <a:tableStyleId>{5C22544A-7EE6-4342-B048-85BDC9FD1C3A}</a:tableStyleId>
              </a:tblPr>
              <a:tblGrid>
                <a:gridCol w="600046">
                  <a:extLst>
                    <a:ext uri="{9D8B030D-6E8A-4147-A177-3AD203B41FA5}">
                      <a16:colId xmlns:a16="http://schemas.microsoft.com/office/drawing/2014/main" val="20000"/>
                    </a:ext>
                  </a:extLst>
                </a:gridCol>
                <a:gridCol w="1739153">
                  <a:extLst>
                    <a:ext uri="{9D8B030D-6E8A-4147-A177-3AD203B41FA5}">
                      <a16:colId xmlns:a16="http://schemas.microsoft.com/office/drawing/2014/main" val="20001"/>
                    </a:ext>
                  </a:extLst>
                </a:gridCol>
                <a:gridCol w="2070847">
                  <a:extLst>
                    <a:ext uri="{9D8B030D-6E8A-4147-A177-3AD203B41FA5}">
                      <a16:colId xmlns:a16="http://schemas.microsoft.com/office/drawing/2014/main" val="20002"/>
                    </a:ext>
                  </a:extLst>
                </a:gridCol>
                <a:gridCol w="2572871">
                  <a:extLst>
                    <a:ext uri="{9D8B030D-6E8A-4147-A177-3AD203B41FA5}">
                      <a16:colId xmlns:a16="http://schemas.microsoft.com/office/drawing/2014/main" val="20003"/>
                    </a:ext>
                  </a:extLst>
                </a:gridCol>
                <a:gridCol w="2232211">
                  <a:extLst>
                    <a:ext uri="{9D8B030D-6E8A-4147-A177-3AD203B41FA5}">
                      <a16:colId xmlns:a16="http://schemas.microsoft.com/office/drawing/2014/main" val="20004"/>
                    </a:ext>
                  </a:extLst>
                </a:gridCol>
                <a:gridCol w="2344811">
                  <a:extLst>
                    <a:ext uri="{9D8B030D-6E8A-4147-A177-3AD203B41FA5}">
                      <a16:colId xmlns:a16="http://schemas.microsoft.com/office/drawing/2014/main" val="20005"/>
                    </a:ext>
                  </a:extLst>
                </a:gridCol>
              </a:tblGrid>
              <a:tr h="0">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105901">
                <a:tc>
                  <a:txBody>
                    <a:bodyPr/>
                    <a:lstStyle/>
                    <a:p>
                      <a:pPr algn="l"/>
                      <a:r>
                        <a:rPr lang="en-IN" sz="1100" dirty="0" b="1">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100" b="0">
                          <a:latin typeface="Times New Roman"/>
                        </a:rPr>
                        <a:t>K. Manoharan et al. (2023)</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Intelligent Nutrition Tracking System Using SQL-based Data Models</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Relational DB design with normalized tables, SQL triggers for automated calorie tracking</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Efficient data retrieval with indexed queries; real-time calorie computation</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No ingredient expiry tracking; limited to single-user scenarios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89609">
                <a:tc>
                  <a:txBody>
                    <a:bodyPr/>
                    <a:lstStyle/>
                    <a:p>
                      <a:pPr algn="l"/>
                      <a:r>
                        <a:rPr lang="en-US" sz="1100" dirty="0" b="1">
                          <a:latin typeface="Times New Roman" panose="02020603050405020304" pitchFamily="18" charset="0"/>
                          <a:cs typeface="Times New Roman" panose="02020603050405020304" pitchFamily="18" charset="0"/>
                        </a:rPr>
                        <a:t>2.</a:t>
                      </a:r>
                    </a:p>
                  </a:txBody>
                  <a:tcPr anchor="ctr"/>
                </a:tc>
                <a:tc>
                  <a:txBody>
                    <a:bodyPr/>
                    <a:lstStyle/>
                    <a:p>
                      <a:pPr algn="l"/>
                      <a:r>
                        <a:rPr sz="1100" b="0">
                          <a:latin typeface="Times New Roman"/>
                        </a:rPr>
                        <a:t>S. Patel &amp; R. Gupta (2022)</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marL="0" algn="l" defTabSz="914400" rtl="0" eaLnBrk="1" latinLnBrk="0" hangingPunct="1">
                        <a:buNone/>
                      </a:pPr>
                      <a:r>
                        <a:rPr sz="1000" b="0">
                          <a:latin typeface="Times New Roman"/>
                        </a:rPr>
                        <a:t>Recipe Recommendation Engine with Inventory-Aware Matching</a:t>
                      </a:r>
                      <a:endParaRPr lang="en-IN" sz="1800" b="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l"/>
                      <a:r>
                        <a:rPr sz="1000" b="0">
                          <a:latin typeface="Times New Roman"/>
                        </a:rPr>
                        <a:t>Junction tables for M:N recipe-ingredient mapping; subqueries for matching</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Smart recipe suggestions based on available ingredients; reduced food waste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No meal logging or nutritional tracking; no concurrency control</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971903" y="136524"/>
            <a:ext cx="8244840" cy="6967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Literature Review</a:t>
            </a:r>
          </a:p>
        </p:txBody>
      </p:sp>
      <p:sp>
        <p:nvSpPr>
          <p:cNvPr id="5" name="Slide Number Placeholder 4"/>
          <p:cNvSpPr>
            <a:spLocks noGrp="1"/>
          </p:cNvSpPr>
          <p:nvPr>
            <p:ph type="sldNum" sz="quarter" idx="12"/>
          </p:nvPr>
        </p:nvSpPr>
        <p:spPr/>
        <p:txBody>
          <a:bodyPr/>
          <a:lstStyle/>
          <a:p>
            <a:fld id="{B6D3A235-9A1B-814A-A45F-231E09344964}" type="slidenum">
              <a:rPr lang="en-US" smtClean="0"/>
              <a:t>4</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486"/>
            <a:ext cx="10515600" cy="6137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Review </a:t>
            </a:r>
            <a:endParaRPr lang="en-IN" b="1" dirty="0">
              <a:latin typeface="Times New Roman" panose="02020603050405020304" pitchFamily="18" charset="0"/>
              <a:cs typeface="Times New Roman" panose="02020603050405020304" pitchFamily="18" charset="0"/>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8142413"/>
              </p:ext>
            </p:extLst>
          </p:nvPr>
        </p:nvGraphicFramePr>
        <p:xfrm>
          <a:off x="314354" y="984344"/>
          <a:ext cx="11559939" cy="5240933"/>
        </p:xfrm>
        <a:graphic>
          <a:graphicData uri="http://schemas.openxmlformats.org/drawingml/2006/table">
            <a:tbl>
              <a:tblPr firstRow="1" bandRow="1">
                <a:tableStyleId>{5C22544A-7EE6-4342-B048-85BDC9FD1C3A}</a:tableStyleId>
              </a:tblPr>
              <a:tblGrid>
                <a:gridCol w="591081">
                  <a:extLst>
                    <a:ext uri="{9D8B030D-6E8A-4147-A177-3AD203B41FA5}">
                      <a16:colId xmlns:a16="http://schemas.microsoft.com/office/drawing/2014/main" val="20000"/>
                    </a:ext>
                  </a:extLst>
                </a:gridCol>
                <a:gridCol w="1990165">
                  <a:extLst>
                    <a:ext uri="{9D8B030D-6E8A-4147-A177-3AD203B41FA5}">
                      <a16:colId xmlns:a16="http://schemas.microsoft.com/office/drawing/2014/main" val="20001"/>
                    </a:ext>
                  </a:extLst>
                </a:gridCol>
                <a:gridCol w="1910080">
                  <a:extLst>
                    <a:ext uri="{9D8B030D-6E8A-4147-A177-3AD203B41FA5}">
                      <a16:colId xmlns:a16="http://schemas.microsoft.com/office/drawing/2014/main" val="20002"/>
                    </a:ext>
                  </a:extLst>
                </a:gridCol>
                <a:gridCol w="2267473">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515140">
                  <a:extLst>
                    <a:ext uri="{9D8B030D-6E8A-4147-A177-3AD203B41FA5}">
                      <a16:colId xmlns:a16="http://schemas.microsoft.com/office/drawing/2014/main" val="20005"/>
                    </a:ext>
                  </a:extLst>
                </a:gridCol>
              </a:tblGrid>
              <a:tr h="763622">
                <a:tc>
                  <a:txBody>
                    <a:bodyPr/>
                    <a:lstStyle/>
                    <a:p>
                      <a:pPr algn="ctr"/>
                      <a:r>
                        <a:rPr lang="en-IN" sz="2200" dirty="0" err="1">
                          <a:latin typeface="Times New Roman" panose="02020603050405020304" pitchFamily="18" charset="0"/>
                          <a:cs typeface="Times New Roman" panose="02020603050405020304" pitchFamily="18" charset="0"/>
                        </a:rPr>
                        <a:t>S.No</a:t>
                      </a:r>
                      <a:r>
                        <a:rPr lang="en-IN"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Author’s name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Title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Methods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Merits </a:t>
                      </a:r>
                      <a:endParaRPr lang="en-US" sz="2200" dirty="0">
                        <a:latin typeface="Times New Roman" panose="02020603050405020304" pitchFamily="18" charset="0"/>
                        <a:cs typeface="Times New Roman" panose="02020603050405020304" pitchFamily="18" charset="0"/>
                      </a:endParaRPr>
                    </a:p>
                  </a:txBody>
                  <a:tcPr anchor="ctr"/>
                </a:tc>
                <a:tc>
                  <a:txBody>
                    <a:bodyPr/>
                    <a:lstStyle/>
                    <a:p>
                      <a:pPr algn="ctr"/>
                      <a:r>
                        <a:rPr lang="en-IN" sz="2200" dirty="0">
                          <a:latin typeface="Times New Roman" panose="02020603050405020304" pitchFamily="18" charset="0"/>
                          <a:cs typeface="Times New Roman" panose="02020603050405020304" pitchFamily="18" charset="0"/>
                        </a:rPr>
                        <a:t>Demerits</a:t>
                      </a:r>
                      <a:r>
                        <a:rPr lang="en-IN" sz="2200" baseline="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220424">
                <a:tc>
                  <a:txBody>
                    <a:bodyPr/>
                    <a:lstStyle/>
                    <a:p>
                      <a:pPr algn="l"/>
                      <a:r>
                        <a:rPr sz="1100" b="1">
                          <a:latin typeface="Times New Roman"/>
                        </a:rPr>
                        <a:t>3.</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100" b="0">
                          <a:latin typeface="Times New Roman"/>
                        </a:rPr>
                        <a:t>A. Kumar &amp; P. Singh (2024)</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Transactional Meal Planning System with ACID Guarantees</a:t>
                      </a:r>
                      <a:endParaRPr lang="en-GB"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Stored procedures with cursors, transaction management with savepoints, views for reporting</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ACID-compliant operations; robust error handling with rollback; reusable views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Complex setup; no real-time expiry alerts; no web interface</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256887">
                <a:tc>
                  <a:txBody>
                    <a:bodyPr/>
                    <a:lstStyle/>
                    <a:p>
                      <a:pPr algn="l"/>
                      <a:r>
                        <a:rPr sz="1100" b="1">
                          <a:latin typeface="Times New Roman"/>
                        </a:rPr>
                        <a:t>4.</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l"/>
                      <a:r>
                        <a:rPr sz="1100" b="0">
                          <a:latin typeface="Times New Roman"/>
                        </a:rPr>
                        <a:t>L. Chen &amp; M. Wang (2023)</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Concurrent Multi-User Kitchen Management with Row-Level Locking</a:t>
                      </a:r>
                      <a:endParaRPr lang="en-IN" sz="1800" b="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Row-level locks (SELECT ... FOR UPDATE), table-level locks, isolation levels for concurrent access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buNone/>
                      </a:pPr>
                      <a:r>
                        <a:rPr sz="1000" b="0">
                          <a:latin typeface="Times New Roman"/>
                        </a:rPr>
                        <a:t>Prevents dirty reads and lost updates; supports multiple simultaneous users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r>
                        <a:rPr sz="1000" b="0">
                          <a:latin typeface="Times New Roman"/>
                        </a:rPr>
                        <a:t>Performance overhead from locking; no recipe recommendation; no nutritional analysis</a:t>
                      </a: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
        <p:nvSpPr>
          <p:cNvPr id="5" name="Slide Number Placeholder 4"/>
          <p:cNvSpPr>
            <a:spLocks noGrp="1"/>
          </p:cNvSpPr>
          <p:nvPr>
            <p:ph type="sldNum" sz="quarter" idx="12"/>
          </p:nvPr>
        </p:nvSpPr>
        <p:spPr/>
        <p:txBody>
          <a:bodyPr/>
          <a:lstStyle/>
          <a:p>
            <a:fld id="{B6D3A235-9A1B-814A-A45F-231E09344964}" type="slidenum">
              <a:rPr lang="en-US" smtClean="0"/>
              <a:t>5</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39296" y="181765"/>
            <a:ext cx="9710056"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Work Flow of Proposed Model</a:t>
            </a:r>
            <a:endParaRPr lang="en-IN" sz="4000" b="1" dirty="0">
              <a:latin typeface="Times New Roman" panose="02020603050405020304" pitchFamily="18" charset="0"/>
              <a:cs typeface="Times New Roman" panose="02020603050405020304" pitchFamily="18" charset="0"/>
            </a:endParaRPr>
          </a:p>
        </p:txBody>
      </p:sp>
      <p:sp>
        <p:nvSpPr>
          <p:cNvPr id="2" name="AutoShape 2" descr="https://ietresearch.onlinelibrary.wiley.com/cms/asset/2940a7b6-e3db-4571-ac31-fa8b0ce109de/ise28821891-fig-0004-m.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AutoShape 4" descr="https://ietresearch.onlinelibrary.wiley.com/cms/asset/2940a7b6-e3db-4571-ac31-fa8b0ce109de/ise28821891-fig-0004-m.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AutoShape 6" descr="https://ietresearch.onlinelibrary.wiley.com/cms/asset/2940a7b6-e3db-4571-ac31-fa8b0ce109de/ise28821891-fig-0004-m.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Slide Number Placeholder 7"/>
          <p:cNvSpPr>
            <a:spLocks noGrp="1"/>
          </p:cNvSpPr>
          <p:nvPr>
            <p:ph type="sldNum" sz="quarter" idx="12"/>
          </p:nvPr>
        </p:nvSpPr>
        <p:spPr/>
        <p:txBody>
          <a:bodyPr/>
          <a:lstStyle/>
          <a:p>
            <a:fld id="{B6D3A235-9A1B-814A-A45F-231E09344964}" type="slidenum">
              <a:rPr lang="en-US" smtClean="0"/>
              <a:t>6</a:t>
            </a:fld>
            <a:endParaRPr lang="en-US"/>
          </a:p>
        </p:txBody>
      </p:sp>
      <p:sp>
        <p:nvSpPr>
          <p:cNvPr id="15" name="Date Placeholder 14"/>
          <p:cNvSpPr>
            <a:spLocks noGrp="1"/>
          </p:cNvSpPr>
          <p:nvPr>
            <p:ph type="dt" sz="half" idx="10"/>
          </p:nvPr>
        </p:nvSpPr>
        <p:spPr/>
        <p:txBody>
          <a:bodyPr/>
          <a:lstStyle/>
          <a:p>
            <a:r>
              <a:rPr lang="en-US"/>
              <a:t>29 July 2026</a:t>
            </a:r>
          </a:p>
        </p:txBody>
      </p:sp>
      <p:sp>
        <p:nvSpPr>
          <p:cNvPr id="6" name="Content Placeholder 5">
            <a:extLst>
              <a:ext uri="{FF2B5EF4-FFF2-40B4-BE49-F238E27FC236}">
                <a16:creationId xmlns:a16="http://schemas.microsoft.com/office/drawing/2014/main" id="{58A201CE-CDB9-324E-2DD4-A609CF3BA911}"/>
              </a:ext>
            </a:extLst>
          </p:cNvPr>
          <p:cNvSpPr>
            <a:spLocks noGrp="1"/>
          </p:cNvSpPr>
          <p:nvPr>
            <p:ph idx="1"/>
          </p:nvPr>
        </p:nvSpPr>
        <p:spPr/>
        <p:txBody>
          <a:bodyPr wrap="square"/>
          <a:lstStyle/>
          <a:p>
            <a:pPr algn="ctr">
              <a:spcBef>
                <a:spcPts val="0"/>
              </a:spcBef>
              <a:spcAft>
                <a:spcPts val="1200"/>
              </a:spcAft>
            </a:pPr>
            <a:r>
              <a:rPr sz="2000" b="1" i="0">
                <a:latin typeface="Times New Roman"/>
              </a:rPr>
              <a:t>System Architecture &amp; Workflow</a:t>
            </a:r>
          </a:p>
          <a:p>
            <a:pPr algn="just">
              <a:spcBef>
                <a:spcPts val="0"/>
              </a:spcBef>
              <a:spcAft>
                <a:spcPts val="200"/>
              </a:spcAft>
            </a:pPr>
            <a:r>
              <a:rPr sz="1200" b="0" i="0">
                <a:latin typeface="Times New Roman"/>
              </a:rPr>
              <a:t/>
            </a:r>
          </a:p>
          <a:p>
            <a:pPr algn="l">
              <a:spcBef>
                <a:spcPts val="200"/>
              </a:spcBef>
              <a:spcAft>
                <a:spcPts val="400"/>
              </a:spcAft>
            </a:pPr>
            <a:r>
              <a:rPr sz="1500" b="0" i="0">
                <a:latin typeface="Times New Roman"/>
              </a:rPr>
              <a:t>1. USER REGISTRATION → Users sign up with email, password, and dietary preferences (JSON)</a:t>
            </a:r>
          </a:p>
          <a:p>
            <a:pPr algn="l" lvl="1">
              <a:spcBef>
                <a:spcPts val="200"/>
              </a:spcBef>
              <a:spcAft>
                <a:spcPts val="400"/>
              </a:spcAft>
            </a:pPr>
            <a:r>
              <a:rPr sz="1300" b="0" i="0">
                <a:latin typeface="Times New Roman"/>
              </a:rPr>
              <a:t>     ↓  Stored in 'users' table with UNIQUE email constraint</a:t>
            </a:r>
          </a:p>
          <a:p>
            <a:pPr algn="l">
              <a:spcBef>
                <a:spcPts val="200"/>
              </a:spcBef>
              <a:spcAft>
                <a:spcPts val="400"/>
              </a:spcAft>
            </a:pPr>
            <a:r>
              <a:rPr sz="1500" b="0" i="0">
                <a:latin typeface="Times New Roman"/>
              </a:rPr>
              <a:t>2. INGREDIENT MANAGEMENT → Users add ingredients with quantity, unit, expiry date, location</a:t>
            </a:r>
          </a:p>
          <a:p>
            <a:pPr algn="l" lvl="1">
              <a:spcBef>
                <a:spcPts val="200"/>
              </a:spcBef>
              <a:spcAft>
                <a:spcPts val="400"/>
              </a:spcAft>
            </a:pPr>
            <a:r>
              <a:rPr sz="1300" b="0" i="0">
                <a:latin typeface="Times New Roman"/>
              </a:rPr>
              <a:t>     ↓  Trigger blocks expired ingredients  |  View tracks expiring items</a:t>
            </a:r>
          </a:p>
          <a:p>
            <a:pPr algn="l">
              <a:spcBef>
                <a:spcPts val="200"/>
              </a:spcBef>
              <a:spcAft>
                <a:spcPts val="400"/>
              </a:spcAft>
            </a:pPr>
            <a:r>
              <a:rPr sz="1500" b="0" i="0">
                <a:latin typeface="Times New Roman"/>
              </a:rPr>
              <a:t>3. RECIPE MATCHING → System matches available ingredients to recipes via JOIN queries</a:t>
            </a:r>
          </a:p>
          <a:p>
            <a:pPr algn="l" lvl="1">
              <a:spcBef>
                <a:spcPts val="200"/>
              </a:spcBef>
              <a:spcAft>
                <a:spcPts val="400"/>
              </a:spcAft>
            </a:pPr>
            <a:r>
              <a:rPr sz="1300" b="0" i="0">
                <a:latin typeface="Times New Roman"/>
              </a:rPr>
              <a:t>     ↓  Junction table (recipe_ingredients) enables M:N mapping</a:t>
            </a:r>
          </a:p>
          <a:p>
            <a:pPr algn="l">
              <a:spcBef>
                <a:spcPts val="200"/>
              </a:spcBef>
              <a:spcAft>
                <a:spcPts val="400"/>
              </a:spcAft>
            </a:pPr>
            <a:r>
              <a:rPr sz="1500" b="0" i="0">
                <a:latin typeface="Times New Roman"/>
              </a:rPr>
              <a:t>4. MEAL LOGGING → Users log meals with date and rating (1-5, CHECK constraint)</a:t>
            </a:r>
          </a:p>
          <a:p>
            <a:pPr algn="l" lvl="1">
              <a:spcBef>
                <a:spcPts val="200"/>
              </a:spcBef>
              <a:spcAft>
                <a:spcPts val="400"/>
              </a:spcAft>
            </a:pPr>
            <a:r>
              <a:rPr sz="1300" b="0" i="0">
                <a:latin typeface="Times New Roman"/>
              </a:rPr>
              <a:t>     ↓  Trigger auto-deducts inventory  |  Default rating trigger sets 3 if NULL</a:t>
            </a:r>
          </a:p>
          <a:p>
            <a:pPr algn="l">
              <a:spcBef>
                <a:spcPts val="200"/>
              </a:spcBef>
              <a:spcAft>
                <a:spcPts val="400"/>
              </a:spcAft>
            </a:pPr>
            <a:r>
              <a:rPr sz="1500" b="0" i="0">
                <a:latin typeface="Times New Roman"/>
              </a:rPr>
              <a:t>5. ANALYTICS &amp; REPORTING → Views provide dashboards: nutrition, meal counts, leaderboards</a:t>
            </a:r>
          </a:p>
          <a:p>
            <a:pPr algn="l" lvl="1">
              <a:spcBef>
                <a:spcPts val="200"/>
              </a:spcBef>
              <a:spcAft>
                <a:spcPts val="400"/>
              </a:spcAft>
            </a:pPr>
            <a:r>
              <a:rPr sz="1300" b="0" i="0">
                <a:latin typeface="Times New Roman"/>
              </a:rPr>
              <a:t>     ↓  Aggregate functions (AVG, COUNT, SUM) power real-time insights</a:t>
            </a:r>
          </a:p>
          <a:p>
            <a:pPr algn="l">
              <a:spcBef>
                <a:spcPts val="200"/>
              </a:spcBef>
              <a:spcAft>
                <a:spcPts val="400"/>
              </a:spcAft>
            </a:pPr>
            <a:r>
              <a:rPr sz="1500" b="0" i="0">
                <a:latin typeface="Times New Roman"/>
              </a:rPr>
              <a:t>6. CONCURRENCY CONTROL → Row-level &amp; table-level locks ensure data consistency</a:t>
            </a:r>
          </a:p>
          <a:p>
            <a:pPr algn="l" lvl="1">
              <a:spcBef>
                <a:spcPts val="200"/>
              </a:spcBef>
              <a:spcAft>
                <a:spcPts val="400"/>
              </a:spcAft>
            </a:pPr>
            <a:r>
              <a:rPr sz="1300" b="0" i="0">
                <a:latin typeface="Times New Roman"/>
              </a:rPr>
              <a:t>     ↓  SELECT ... FOR UPDATE prevents race conditions on shared ingredients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883" y="47040"/>
            <a:ext cx="10515600" cy="607384"/>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Proposed work -Explanation </a:t>
            </a:r>
          </a:p>
        </p:txBody>
      </p:sp>
      <p:sp>
        <p:nvSpPr>
          <p:cNvPr id="3" name="Content Placeholder 2"/>
          <p:cNvSpPr>
            <a:spLocks noGrp="1"/>
          </p:cNvSpPr>
          <p:nvPr>
            <p:ph idx="1"/>
          </p:nvPr>
        </p:nvSpPr>
        <p:spPr>
          <a:xfrm>
            <a:off x="629695" y="654424"/>
            <a:ext cx="10929257" cy="6067051"/>
          </a:xfrm>
        </p:spPr>
        <p:txBody>
          <a:bodyPr wrap="square">
            <a:noAutofit/>
          </a:bodyPr>
          <a:lstStyle/>
          <a:p>
            <a:pPr algn="just">
              <a:spcBef>
                <a:spcPts val="0"/>
              </a:spcBef>
              <a:spcAft>
                <a:spcPts val="600"/>
              </a:spcAft>
            </a:pPr>
            <a:r>
              <a:rPr sz="1800" b="1" i="0">
                <a:latin typeface="Times New Roman"/>
              </a:rPr>
              <a:t>Database Schema (5 Tables, 12+ Constraints)</a:t>
            </a:r>
          </a:p>
          <a:p>
            <a:pPr algn="l">
              <a:spcBef>
                <a:spcPts val="200"/>
              </a:spcBef>
              <a:spcAft>
                <a:spcPts val="400"/>
              </a:spcAft>
            </a:pPr>
            <a:r>
              <a:rPr sz="1400" b="0" i="0">
                <a:latin typeface="Times New Roman"/>
              </a:rPr>
              <a:t>• users — 6 columns: user_id (PK, AUTO_INCREMENT), email (UNIQUE, NOT NULL), password_hash, name, dietary_preferences (JSON), created_at</a:t>
            </a:r>
          </a:p>
          <a:p>
            <a:pPr algn="l">
              <a:spcBef>
                <a:spcPts val="200"/>
              </a:spcBef>
              <a:spcAft>
                <a:spcPts val="400"/>
              </a:spcAft>
            </a:pPr>
            <a:r>
              <a:rPr sz="1400" b="0" i="0">
                <a:latin typeface="Times New Roman"/>
              </a:rPr>
              <a:t>• ingredients — 8 columns: ingredient_id (PK), user_id (FK → users, ON DELETE CASCADE), name, quantity, unit, expiration_date, location, calories_per_unit</a:t>
            </a:r>
          </a:p>
          <a:p>
            <a:pPr algn="l">
              <a:spcBef>
                <a:spcPts val="200"/>
              </a:spcBef>
              <a:spcAft>
                <a:spcPts val="400"/>
              </a:spcAft>
            </a:pPr>
            <a:r>
              <a:rPr sz="1400" b="0" i="0">
                <a:latin typeface="Times New Roman"/>
              </a:rPr>
              <a:t>• recipes — 5 columns: recipe_id (PK), name, instructions (TEXT), prep_time, nutritional_info (JSON), difficulty_level</a:t>
            </a:r>
          </a:p>
          <a:p>
            <a:pPr algn="l">
              <a:spcBef>
                <a:spcPts val="200"/>
              </a:spcBef>
              <a:spcAft>
                <a:spcPts val="400"/>
              </a:spcAft>
            </a:pPr>
            <a:r>
              <a:rPr sz="1400" b="0" i="0">
                <a:latin typeface="Times New Roman"/>
              </a:rPr>
              <a:t>• recipe_ingredients — Junction table with composite PK (recipe_id, ingredient_name), FK → recipes (ON DELETE CASCADE)</a:t>
            </a:r>
          </a:p>
          <a:p>
            <a:pPr algn="l">
              <a:spcBef>
                <a:spcPts val="200"/>
              </a:spcBef>
              <a:spcAft>
                <a:spcPts val="400"/>
              </a:spcAft>
            </a:pPr>
            <a:r>
              <a:rPr sz="1400" b="0" i="0">
                <a:latin typeface="Times New Roman"/>
              </a:rPr>
              <a:t>• meal_logs — 5 columns: log_id (PK), user_id (FK), recipe_id (FK, ON DELETE SET NULL), consumed_date, rating (CHECK 1-5)</a:t>
            </a:r>
          </a:p>
          <a:p>
            <a:pPr algn="just">
              <a:spcBef>
                <a:spcPts val="1000"/>
              </a:spcBef>
              <a:spcAft>
                <a:spcPts val="600"/>
              </a:spcAft>
            </a:pPr>
            <a:r>
              <a:rPr sz="1800" b="1" i="0">
                <a:latin typeface="Times New Roman"/>
              </a:rPr>
              <a:t>Advanced SQL Features Implemented</a:t>
            </a:r>
          </a:p>
          <a:p>
            <a:pPr algn="l">
              <a:spcBef>
                <a:spcPts val="200"/>
              </a:spcBef>
              <a:spcAft>
                <a:spcPts val="400"/>
              </a:spcAft>
            </a:pPr>
            <a:r>
              <a:rPr sz="1400" b="0" i="0">
                <a:latin typeface="Times New Roman"/>
              </a:rPr>
              <a:t>• Constraints: PRIMARY KEY, FOREIGN KEY (CASCADE, SET NULL), UNIQUE, NOT NULL, CHECK, AUTO_INCREMENT</a:t>
            </a:r>
          </a:p>
          <a:p>
            <a:pPr algn="l">
              <a:spcBef>
                <a:spcPts val="200"/>
              </a:spcBef>
              <a:spcAft>
                <a:spcPts val="400"/>
              </a:spcAft>
            </a:pPr>
            <a:r>
              <a:rPr sz="1400" b="0" i="0">
                <a:latin typeface="Times New Roman"/>
              </a:rPr>
              <a:t>• Aggregates: COUNT, SUM, AVG, MIN, MAX with GROUP BY and HAVING clauses across 7 queries</a:t>
            </a:r>
          </a:p>
          <a:p>
            <a:pPr algn="l">
              <a:spcBef>
                <a:spcPts val="200"/>
              </a:spcBef>
              <a:spcAft>
                <a:spcPts val="400"/>
              </a:spcAft>
            </a:pPr>
            <a:r>
              <a:rPr sz="1400" b="0" i="0">
                <a:latin typeface="Times New Roman"/>
              </a:rPr>
              <a:t>• Set Operations: UNION, UNION ALL, INTERSECT (via INNER JOIN), EXCEPT (via LEFT JOIN + IS NULL)</a:t>
            </a:r>
          </a:p>
          <a:p>
            <a:pPr algn="l">
              <a:spcBef>
                <a:spcPts val="200"/>
              </a:spcBef>
              <a:spcAft>
                <a:spcPts val="400"/>
              </a:spcAft>
            </a:pPr>
            <a:r>
              <a:rPr sz="1400" b="0" i="0">
                <a:latin typeface="Times New Roman"/>
              </a:rPr>
              <a:t>• Subqueries: Scalar, row, table subqueries — both correlated and non-correlated (6 queries)</a:t>
            </a:r>
          </a:p>
          <a:p>
            <a:pPr algn="l">
              <a:spcBef>
                <a:spcPts val="200"/>
              </a:spcBef>
              <a:spcAft>
                <a:spcPts val="400"/>
              </a:spcAft>
            </a:pPr>
            <a:r>
              <a:rPr sz="1400" b="0" i="0">
                <a:latin typeface="Times New Roman"/>
              </a:rPr>
              <a:t>• Joins: INNER JOIN, LEFT JOIN, CROSS JOIN, SELF JOIN demonstrated across 6 query scenarios</a:t>
            </a:r>
          </a:p>
          <a:p>
            <a:pPr algn="l">
              <a:spcBef>
                <a:spcPts val="200"/>
              </a:spcBef>
              <a:spcAft>
                <a:spcPts val="400"/>
              </a:spcAft>
            </a:pPr>
            <a:r>
              <a:rPr sz="1400" b="0" i="0">
                <a:latin typeface="Times New Roman"/>
              </a:rPr>
              <a:t>• Views: 4 views — recipe_details_view, expiring_ingredients_view, user_meal_count_view, user_nutrition_view</a:t>
            </a:r>
          </a:p>
          <a:p>
            <a:pPr algn="l">
              <a:spcBef>
                <a:spcPts val="200"/>
              </a:spcBef>
              <a:spcAft>
                <a:spcPts val="400"/>
              </a:spcAft>
            </a:pPr>
            <a:r>
              <a:rPr sz="1400" b="0" i="0">
                <a:latin typeface="Times New Roman"/>
              </a:rPr>
              <a:t>• Triggers: 3 BEFORE/AFTER triggers — default rating, inventory deduction, expiry date validation</a:t>
            </a:r>
          </a:p>
          <a:p>
            <a:pPr algn="l">
              <a:spcBef>
                <a:spcPts val="200"/>
              </a:spcBef>
              <a:spcAft>
                <a:spcPts val="400"/>
              </a:spcAft>
            </a:pPr>
            <a:r>
              <a:rPr sz="1400" b="0" i="0">
                <a:latin typeface="Times New Roman"/>
              </a:rPr>
              <a:t>• Cursors: 3 stored procedures — get_ingredients, count_ingredients, low_stock</a:t>
            </a:r>
          </a:p>
          <a:p>
            <a:pPr algn="l">
              <a:spcBef>
                <a:spcPts val="200"/>
              </a:spcBef>
              <a:spcAft>
                <a:spcPts val="400"/>
              </a:spcAft>
            </a:pPr>
            <a:r>
              <a:rPr sz="1400" b="0" i="0">
                <a:latin typeface="Times New Roman"/>
              </a:rPr>
              <a:t>• Transactions: 5 transaction blocks with SAVEPOINT, ROLLBACK, COMMIT demonstrating ACID properties</a:t>
            </a:r>
          </a:p>
          <a:p>
            <a:pPr algn="l">
              <a:spcBef>
                <a:spcPts val="200"/>
              </a:spcBef>
              <a:spcAft>
                <a:spcPts val="400"/>
              </a:spcAft>
            </a:pPr>
            <a:r>
              <a:rPr sz="1400" b="0" i="0">
                <a:latin typeface="Times New Roman"/>
              </a:rPr>
              <a:t>• Concurrency: Row-level locks (SELECT ... FOR UPDATE) and table-level locks (LOCK TABLES)</a:t>
            </a:r>
          </a:p>
        </p:txBody>
      </p:sp>
      <p:sp>
        <p:nvSpPr>
          <p:cNvPr id="7" name="Slide Number Placeholder 6"/>
          <p:cNvSpPr>
            <a:spLocks noGrp="1"/>
          </p:cNvSpPr>
          <p:nvPr>
            <p:ph type="sldNum" sz="quarter" idx="12"/>
          </p:nvPr>
        </p:nvSpPr>
        <p:spPr/>
        <p:txBody>
          <a:bodyPr/>
          <a:lstStyle/>
          <a:p>
            <a:fld id="{B6D3A235-9A1B-814A-A45F-231E09344964}" type="slidenum">
              <a:rPr lang="en-US" smtClean="0"/>
              <a:t>7</a:t>
            </a:fld>
            <a:endParaRPr lang="en-US"/>
          </a:p>
        </p:txBody>
      </p:sp>
      <p:sp>
        <p:nvSpPr>
          <p:cNvPr id="8" name="Date Placeholder 7"/>
          <p:cNvSpPr>
            <a:spLocks noGrp="1"/>
          </p:cNvSpPr>
          <p:nvPr>
            <p:ph type="dt" sz="half" idx="10"/>
          </p:nvPr>
        </p:nvSpPr>
        <p:spPr/>
        <p:txBody>
          <a:bodyPr/>
          <a:lstStyle/>
          <a:p>
            <a:r>
              <a:rPr lang="en-US"/>
              <a:t>29 July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b="1" i="0">
                <a:latin typeface="Times New Roman"/>
              </a:rPr>
              <a:t>Results &amp; Full-Stack Implementation</a:t>
            </a:r>
          </a:p>
        </p:txBody>
      </p:sp>
      <p:sp>
        <p:nvSpPr>
          <p:cNvPr id="3" name="Content Placeholder 2"/>
          <p:cNvSpPr>
            <a:spLocks noGrp="1"/>
          </p:cNvSpPr>
          <p:nvPr>
            <p:ph idx="1"/>
          </p:nvPr>
        </p:nvSpPr>
        <p:spPr>
          <a:xfrm>
            <a:off x="838200" y="1825625"/>
            <a:ext cx="10663518" cy="4351338"/>
          </a:xfrm>
        </p:spPr>
        <p:txBody>
          <a:bodyPr wrap="square">
            <a:normAutofit/>
          </a:bodyPr>
          <a:lstStyle/>
          <a:p>
            <a:pPr algn="just">
              <a:spcBef>
                <a:spcPts val="0"/>
              </a:spcBef>
              <a:spcAft>
                <a:spcPts val="600"/>
              </a:spcAft>
            </a:pPr>
            <a:r>
              <a:rPr sz="1800" b="1" i="0">
                <a:latin typeface="Times New Roman"/>
              </a:rPr>
              <a:t>Dataset Overview</a:t>
            </a:r>
          </a:p>
          <a:p>
            <a:pPr algn="l">
              <a:spcBef>
                <a:spcPts val="200"/>
              </a:spcBef>
              <a:spcAft>
                <a:spcPts val="400"/>
              </a:spcAft>
            </a:pPr>
            <a:r>
              <a:rPr sz="1500" b="0" i="0">
                <a:latin typeface="Times New Roman"/>
              </a:rPr>
              <a:t>• 22 users with JSON dietary preferences (vegan, gluten-free, allergies)</a:t>
            </a:r>
          </a:p>
          <a:p>
            <a:pPr algn="l">
              <a:spcBef>
                <a:spcPts val="200"/>
              </a:spcBef>
              <a:spcAft>
                <a:spcPts val="400"/>
              </a:spcAft>
            </a:pPr>
            <a:r>
              <a:rPr sz="1500" b="0" i="0">
                <a:latin typeface="Times New Roman"/>
              </a:rPr>
              <a:t>• 30 ingredients across 3 storage locations (refrigerator, pantry, freezer)</a:t>
            </a:r>
          </a:p>
          <a:p>
            <a:pPr algn="l">
              <a:spcBef>
                <a:spcPts val="200"/>
              </a:spcBef>
              <a:spcAft>
                <a:spcPts val="400"/>
              </a:spcAft>
            </a:pPr>
            <a:r>
              <a:rPr sz="1500" b="0" i="0">
                <a:latin typeface="Times New Roman"/>
              </a:rPr>
              <a:t>• 22 recipes ranging from Easy to Hard difficulty (5-45 min prep time)</a:t>
            </a:r>
          </a:p>
          <a:p>
            <a:pPr algn="l">
              <a:spcBef>
                <a:spcPts val="200"/>
              </a:spcBef>
              <a:spcAft>
                <a:spcPts val="400"/>
              </a:spcAft>
            </a:pPr>
            <a:r>
              <a:rPr sz="1500" b="0" i="0">
                <a:latin typeface="Times New Roman"/>
              </a:rPr>
              <a:t>• 55 meal log entries with ratings from 1-5 across multiple users</a:t>
            </a:r>
          </a:p>
          <a:p>
            <a:pPr algn="just">
              <a:spcBef>
                <a:spcPts val="1000"/>
              </a:spcBef>
              <a:spcAft>
                <a:spcPts val="600"/>
              </a:spcAft>
            </a:pPr>
            <a:r>
              <a:rPr sz="1800" b="1" i="0">
                <a:latin typeface="Times New Roman"/>
              </a:rPr>
              <a:t>Full-Stack Web Application</a:t>
            </a:r>
          </a:p>
          <a:p>
            <a:pPr algn="l">
              <a:spcBef>
                <a:spcPts val="200"/>
              </a:spcBef>
              <a:spcAft>
                <a:spcPts val="400"/>
              </a:spcAft>
            </a:pPr>
            <a:r>
              <a:rPr sz="1500" b="0" i="0">
                <a:latin typeface="Times New Roman"/>
              </a:rPr>
              <a:t>• Frontend: React 18 + TypeScript + Vite — 8 pages (Dashboard, Ingredients, Recipes, Meal Logs, Shopping List, Auth)</a:t>
            </a:r>
          </a:p>
          <a:p>
            <a:pPr algn="l">
              <a:spcBef>
                <a:spcPts val="200"/>
              </a:spcBef>
              <a:spcAft>
                <a:spcPts val="400"/>
              </a:spcAft>
            </a:pPr>
            <a:r>
              <a:rPr sz="1500" b="0" i="0">
                <a:latin typeface="Times New Roman"/>
              </a:rPr>
              <a:t>• Backend: Node.js + Express.js — RESTful API with 6 route modules (auth, ingredients, recipes, meal-logs, shopping-list, profile)</a:t>
            </a:r>
          </a:p>
          <a:p>
            <a:pPr algn="l">
              <a:spcBef>
                <a:spcPts val="200"/>
              </a:spcBef>
              <a:spcAft>
                <a:spcPts val="400"/>
              </a:spcAft>
            </a:pPr>
            <a:r>
              <a:rPr sz="1500" b="0" i="0">
                <a:latin typeface="Times New Roman"/>
              </a:rPr>
              <a:t>• Database: Supabase (cloud PostgreSQL) + MySQL 8.0 (local development)</a:t>
            </a:r>
          </a:p>
          <a:p>
            <a:pPr algn="l">
              <a:spcBef>
                <a:spcPts val="200"/>
              </a:spcBef>
              <a:spcAft>
                <a:spcPts val="400"/>
              </a:spcAft>
            </a:pPr>
            <a:r>
              <a:rPr sz="1500" b="0" i="0">
                <a:latin typeface="Times New Roman"/>
              </a:rPr>
              <a:t>• UI Components: shadcn/ui + Tailwind CSS + Framer Motion animations</a:t>
            </a:r>
          </a:p>
          <a:p>
            <a:pPr algn="just">
              <a:spcBef>
                <a:spcPts val="1000"/>
              </a:spcBef>
              <a:spcAft>
                <a:spcPts val="600"/>
              </a:spcAft>
            </a:pPr>
            <a:r>
              <a:rPr sz="1800" b="1" i="0">
                <a:latin typeface="Times New Roman"/>
              </a:rPr>
              <a:t>Key Application Features</a:t>
            </a:r>
          </a:p>
          <a:p>
            <a:pPr algn="l">
              <a:spcBef>
                <a:spcPts val="200"/>
              </a:spcBef>
              <a:spcAft>
                <a:spcPts val="400"/>
              </a:spcAft>
            </a:pPr>
            <a:r>
              <a:rPr sz="1500" b="0" i="0">
                <a:latin typeface="Times New Roman"/>
              </a:rPr>
              <a:t>• Smart Inventory: Track ingredients with real-time expiry alerts (≤ 3 days)</a:t>
            </a:r>
          </a:p>
          <a:p>
            <a:pPr algn="l">
              <a:spcBef>
                <a:spcPts val="200"/>
              </a:spcBef>
              <a:spcAft>
                <a:spcPts val="400"/>
              </a:spcAft>
            </a:pPr>
            <a:r>
              <a:rPr sz="1500" b="0" i="0">
                <a:latin typeface="Times New Roman"/>
              </a:rPr>
              <a:t>• Recipe Matching: Discover recipes based on available kitchen ingredients</a:t>
            </a:r>
          </a:p>
          <a:p>
            <a:pPr algn="l">
              <a:spcBef>
                <a:spcPts val="200"/>
              </a:spcBef>
              <a:spcAft>
                <a:spcPts val="400"/>
              </a:spcAft>
            </a:pPr>
            <a:r>
              <a:rPr sz="1500" b="0" i="0">
                <a:latin typeface="Times New Roman"/>
              </a:rPr>
              <a:t>• Meal Tracking: Log meals with date and 1-5 star ratings</a:t>
            </a:r>
          </a:p>
          <a:p>
            <a:pPr algn="l">
              <a:spcBef>
                <a:spcPts val="200"/>
              </a:spcBef>
              <a:spcAft>
                <a:spcPts val="400"/>
              </a:spcAft>
            </a:pPr>
            <a:r>
              <a:rPr sz="1500" b="0" i="0">
                <a:latin typeface="Times New Roman"/>
              </a:rPr>
              <a:t>• Nutritional Dashboard: Per-user calorie tracking with aggregate analytics</a:t>
            </a:r>
          </a:p>
        </p:txBody>
      </p:sp>
      <p:sp>
        <p:nvSpPr>
          <p:cNvPr id="5" name="Slide Number Placeholder 4"/>
          <p:cNvSpPr>
            <a:spLocks noGrp="1"/>
          </p:cNvSpPr>
          <p:nvPr>
            <p:ph type="sldNum" sz="quarter" idx="12"/>
          </p:nvPr>
        </p:nvSpPr>
        <p:spPr/>
        <p:txBody>
          <a:bodyPr/>
          <a:lstStyle/>
          <a:p>
            <a:fld id="{B6D3A235-9A1B-814A-A45F-231E09344964}" type="slidenum">
              <a:rPr lang="en-US" smtClean="0"/>
              <a:t>8</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324333"/>
            <a:ext cx="10515600" cy="474511"/>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259582" y="1061131"/>
            <a:ext cx="11669484" cy="5198156"/>
          </a:xfrm>
        </p:spPr>
        <p:txBody>
          <a:bodyPr wrap="square">
            <a:noAutofit/>
          </a:bodyPr>
          <a:lstStyle/>
          <a:p>
            <a:pPr algn="l">
              <a:spcBef>
                <a:spcPts val="0"/>
              </a:spcBef>
              <a:spcAft>
                <a:spcPts val="600"/>
              </a:spcAft>
            </a:pPr>
            <a:r>
              <a:rPr sz="1300" b="0" i="0">
                <a:latin typeface="Times New Roman"/>
              </a:rPr>
              <a:t>[1] A. Silberschatz, H. F. Korth, and S. Sudarshan, "Database System Concepts," 7th ed., McGraw-Hill Education, 2019.</a:t>
            </a:r>
          </a:p>
          <a:p>
            <a:pPr algn="l">
              <a:spcBef>
                <a:spcPts val="0"/>
              </a:spcBef>
              <a:spcAft>
                <a:spcPts val="600"/>
              </a:spcAft>
            </a:pPr>
            <a:r>
              <a:rPr sz="1300" b="0" i="0">
                <a:latin typeface="Times New Roman"/>
              </a:rPr>
              <a:t>[2] R. Elmasri and S. B. Navathe, "Fundamentals of Database Systems," 7th ed., Pearson, 2016.</a:t>
            </a:r>
          </a:p>
          <a:p>
            <a:pPr algn="l">
              <a:spcBef>
                <a:spcPts val="0"/>
              </a:spcBef>
              <a:spcAft>
                <a:spcPts val="600"/>
              </a:spcAft>
            </a:pPr>
            <a:r>
              <a:rPr sz="1300" b="0" i="0">
                <a:latin typeface="Times New Roman"/>
              </a:rPr>
              <a:t>[3] MySQL 8.0 Reference Manual — Oracle Corporation, https://dev.mysql.com/doc/refman/8.0/en/</a:t>
            </a:r>
          </a:p>
          <a:p>
            <a:pPr algn="l">
              <a:spcBef>
                <a:spcPts val="0"/>
              </a:spcBef>
              <a:spcAft>
                <a:spcPts val="600"/>
              </a:spcAft>
            </a:pPr>
            <a:r>
              <a:rPr sz="1300" b="0" i="0">
                <a:latin typeface="Times New Roman"/>
              </a:rPr>
              <a:t>[4] Supabase Documentation — Open Source Firebase Alternative, https://supabase.com/docs</a:t>
            </a:r>
          </a:p>
          <a:p>
            <a:pPr algn="l">
              <a:spcBef>
                <a:spcPts val="0"/>
              </a:spcBef>
              <a:spcAft>
                <a:spcPts val="600"/>
              </a:spcAft>
            </a:pPr>
            <a:r>
              <a:rPr sz="1300" b="0" i="0">
                <a:latin typeface="Times New Roman"/>
              </a:rPr>
              <a:t>[5] React Documentation — Meta Platforms Inc., https://react.dev/</a:t>
            </a:r>
          </a:p>
          <a:p>
            <a:pPr algn="l">
              <a:spcBef>
                <a:spcPts val="0"/>
              </a:spcBef>
              <a:spcAft>
                <a:spcPts val="600"/>
              </a:spcAft>
            </a:pPr>
            <a:r>
              <a:rPr sz="1300" b="0" i="0">
                <a:latin typeface="Times New Roman"/>
              </a:rPr>
              <a:t>[6] Express.js Documentation — Node.js Web Application Framework, https://expressjs.com/</a:t>
            </a:r>
          </a:p>
          <a:p>
            <a:pPr algn="l">
              <a:spcBef>
                <a:spcPts val="0"/>
              </a:spcBef>
              <a:spcAft>
                <a:spcPts val="600"/>
              </a:spcAft>
            </a:pPr>
            <a:r>
              <a:rPr sz="1300" b="0" i="0">
                <a:latin typeface="Times New Roman"/>
              </a:rPr>
              <a:t>[7] K. Manoharan et al., "Intelligent Nutrition Tracking System Using SQL-based Data Models," Int. J. of Database Management, vol. 15, no. 3, pp. 45-58, 2023.</a:t>
            </a:r>
          </a:p>
          <a:p>
            <a:pPr algn="l">
              <a:spcBef>
                <a:spcPts val="0"/>
              </a:spcBef>
              <a:spcAft>
                <a:spcPts val="600"/>
              </a:spcAft>
            </a:pPr>
            <a:r>
              <a:rPr sz="1300" b="0" i="0">
                <a:latin typeface="Times New Roman"/>
              </a:rPr>
              <a:t>[8] S. Patel and R. Gupta, "Recipe Recommendation Engine with Inventory-Aware Matching," Proc. ACM SIGMOD Workshop on Data-Driven Applications, pp. 112-120, 2022.</a:t>
            </a:r>
          </a:p>
          <a:p>
            <a:pPr algn="l">
              <a:spcBef>
                <a:spcPts val="0"/>
              </a:spcBef>
              <a:spcAft>
                <a:spcPts val="600"/>
              </a:spcAft>
            </a:pPr>
            <a:r>
              <a:rPr sz="1300" b="0" i="0">
                <a:latin typeface="Times New Roman"/>
              </a:rPr>
              <a:t>[9] A. Kumar and P. Singh, "Transactional Meal Planning System with ACID Guarantees," IEEE Trans. on Knowledge and Data Engineering, vol. 36, no. 2, pp. 890-905, 2024.</a:t>
            </a:r>
          </a:p>
          <a:p>
            <a:pPr algn="l">
              <a:spcBef>
                <a:spcPts val="0"/>
              </a:spcBef>
              <a:spcAft>
                <a:spcPts val="600"/>
              </a:spcAft>
            </a:pPr>
            <a:r>
              <a:rPr sz="1300" b="0" i="0">
                <a:latin typeface="Times New Roman"/>
              </a:rPr>
              <a:t>[10] L. Chen and M. Wang, "Concurrent Multi-User Kitchen Management with Row-Level Locking," J. of Parallel and Distributed Computing, vol. 178, pp. 34-47, 2023.</a:t>
            </a:r>
          </a:p>
        </p:txBody>
      </p:sp>
      <p:sp>
        <p:nvSpPr>
          <p:cNvPr id="7"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200" b="0" i="0" u="none" strike="noStrike" cap="none" normalizeH="0" baseline="0">
                <a:ln>
                  <a:noFill/>
                </a:ln>
                <a:solidFill>
                  <a:srgbClr val="1F1F1F"/>
                </a:solidFill>
                <a:effectLst/>
                <a:latin typeface="ElsevierSans"/>
              </a:rPr>
              <a:t>,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Slide Number Placeholder 7"/>
          <p:cNvSpPr>
            <a:spLocks noGrp="1"/>
          </p:cNvSpPr>
          <p:nvPr>
            <p:ph type="sldNum" sz="quarter" idx="12"/>
          </p:nvPr>
        </p:nvSpPr>
        <p:spPr/>
        <p:txBody>
          <a:bodyPr/>
          <a:lstStyle/>
          <a:p>
            <a:fld id="{B6D3A235-9A1B-814A-A45F-231E09344964}" type="slidenum">
              <a:rPr lang="en-US" smtClean="0"/>
              <a:t>9</a:t>
            </a:fld>
            <a:endParaRPr lang="en-US"/>
          </a:p>
        </p:txBody>
      </p:sp>
      <p:sp>
        <p:nvSpPr>
          <p:cNvPr id="9" name="Date Placeholder 8"/>
          <p:cNvSpPr>
            <a:spLocks noGrp="1"/>
          </p:cNvSpPr>
          <p:nvPr>
            <p:ph type="dt" sz="half" idx="10"/>
          </p:nvPr>
        </p:nvSpPr>
        <p:spPr/>
        <p:txBody>
          <a:bodyPr/>
          <a:lstStyle/>
          <a:p>
            <a:r>
              <a:rPr lang="en-US"/>
              <a:t>29 July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3017253" y="3248372"/>
            <a:ext cx="6157494" cy="1505843"/>
          </a:xfrm>
          <a:prstGeom prst="rect">
            <a:avLst/>
          </a:prstGeom>
        </p:spPr>
      </p:pic>
      <p:sp>
        <p:nvSpPr>
          <p:cNvPr id="9" name="Slide Number Placeholder 8"/>
          <p:cNvSpPr>
            <a:spLocks noGrp="1"/>
          </p:cNvSpPr>
          <p:nvPr>
            <p:ph type="sldNum" sz="quarter" idx="12"/>
          </p:nvPr>
        </p:nvSpPr>
        <p:spPr/>
        <p:txBody>
          <a:bodyPr/>
          <a:lstStyle/>
          <a:p>
            <a:fld id="{B6D3A235-9A1B-814A-A45F-231E09344964}" type="slidenum">
              <a:rPr lang="en-US" smtClean="0"/>
              <a:t>10</a:t>
            </a:fld>
            <a:endParaRPr lang="en-US"/>
          </a:p>
        </p:txBody>
      </p:sp>
      <p:sp>
        <p:nvSpPr>
          <p:cNvPr id="10" name="Date Placeholder 9"/>
          <p:cNvSpPr>
            <a:spLocks noGrp="1"/>
          </p:cNvSpPr>
          <p:nvPr>
            <p:ph type="dt" sz="half" idx="10"/>
          </p:nvPr>
        </p:nvSpPr>
        <p:spPr/>
        <p:txBody>
          <a:bodyPr/>
          <a:lstStyle/>
          <a:p>
            <a:r>
              <a:rPr lang="en-US"/>
              <a:t>29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107</Words>
  <Application>Microsoft Office PowerPoint</Application>
  <PresentationFormat>Widescreen</PresentationFormat>
  <Paragraphs>50</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ElsevierSans</vt:lpstr>
      <vt:lpstr>Times New Roman</vt:lpstr>
      <vt:lpstr>Wingdings</vt:lpstr>
      <vt:lpstr>Office Theme</vt:lpstr>
      <vt:lpstr>Titlle</vt:lpstr>
      <vt:lpstr>Abstract </vt:lpstr>
      <vt:lpstr>Introduction </vt:lpstr>
      <vt:lpstr>PowerPoint Presentation</vt:lpstr>
      <vt:lpstr>Literature Review </vt:lpstr>
      <vt:lpstr>PowerPoint Presentation</vt:lpstr>
      <vt:lpstr>Proposed work -Explanation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proposed work</dc:title>
  <dc:creator>mani iz</dc:creator>
  <cp:lastModifiedBy>Saravanan P</cp:lastModifiedBy>
  <cp:revision>300</cp:revision>
  <dcterms:created xsi:type="dcterms:W3CDTF">2022-09-13T08:56:00Z</dcterms:created>
  <dcterms:modified xsi:type="dcterms:W3CDTF">2026-08-07T04:42:22Z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D08F9FAA6B7E4AE58517ED9850002E9F_12</vt:lpwstr>
  </property>
  <property fmtid="{D5CDD505-2E9C-101B-9397-08002B2CF9AE}" pid="3" name="KSOProductBuildVer">
    <vt:lpwstr>1033-12.1.0.27458</vt:lpwstr>
  </property>
</Properties>
</file>